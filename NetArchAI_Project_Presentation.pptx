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6" r:id="rId12"/>
    <p:sldId id="264" r:id="rId13"/>
    <p:sldId id="267" r:id="rId14"/>
    <p:sldId id="268" r:id="rId15"/>
    <p:sldId id="269" r:id="rId16"/>
    <p:sldId id="270" r:id="rId17"/>
    <p:sldId id="275" r:id="rId18"/>
    <p:sldId id="271" r:id="rId19"/>
    <p:sldId id="272" r:id="rId20"/>
    <p:sldId id="273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946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صورة 2">
            <a:extLst>
              <a:ext uri="{FF2B5EF4-FFF2-40B4-BE49-F238E27FC236}">
                <a16:creationId xmlns:a16="http://schemas.microsoft.com/office/drawing/2014/main" id="{FD35DE9B-352D-36D8-68E5-C8E6E7B7A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  <p:sp>
        <p:nvSpPr>
          <p:cNvPr id="4" name="مستطيل 3">
            <a:extLst>
              <a:ext uri="{FF2B5EF4-FFF2-40B4-BE49-F238E27FC236}">
                <a16:creationId xmlns:a16="http://schemas.microsoft.com/office/drawing/2014/main" id="{A3352EBA-33BD-CD15-98F9-726D5642E9A6}"/>
              </a:ext>
            </a:extLst>
          </p:cNvPr>
          <p:cNvSpPr/>
          <p:nvPr/>
        </p:nvSpPr>
        <p:spPr>
          <a:xfrm>
            <a:off x="9410218" y="1"/>
            <a:ext cx="2781782" cy="13889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SY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الجمهورية العربية السورية </a:t>
            </a:r>
          </a:p>
          <a:p>
            <a:pPr algn="ctr"/>
            <a:r>
              <a:rPr lang="ar-SY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جامعة حمص </a:t>
            </a:r>
          </a:p>
          <a:p>
            <a:pPr algn="ctr"/>
            <a:r>
              <a:rPr lang="ar-SY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كلية الهندسة المعلوماتية </a:t>
            </a:r>
          </a:p>
          <a:p>
            <a:pPr algn="ctr"/>
            <a:r>
              <a:rPr lang="ar-SY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قسم الشبكات و النظم الحاسوبية </a:t>
            </a:r>
            <a:endParaRPr lang="en-US" dirty="0">
              <a:ln w="0"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6" name="مستطيل 5">
            <a:extLst>
              <a:ext uri="{FF2B5EF4-FFF2-40B4-BE49-F238E27FC236}">
                <a16:creationId xmlns:a16="http://schemas.microsoft.com/office/drawing/2014/main" id="{88CD41C5-875E-90F6-5AED-975F86991BE5}"/>
              </a:ext>
            </a:extLst>
          </p:cNvPr>
          <p:cNvSpPr/>
          <p:nvPr/>
        </p:nvSpPr>
        <p:spPr>
          <a:xfrm>
            <a:off x="2893670" y="1018572"/>
            <a:ext cx="6285053" cy="259272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SY" sz="3200" b="1" dirty="0">
                <a:solidFill>
                  <a:schemeClr val="bg1"/>
                </a:solidFill>
              </a:rPr>
              <a:t>تصميم موقع لبناء الشبكات الحاسوبية </a:t>
            </a:r>
          </a:p>
          <a:p>
            <a:pPr algn="ctr"/>
            <a:r>
              <a:rPr lang="ar-SY" sz="3200" b="1" dirty="0">
                <a:solidFill>
                  <a:schemeClr val="bg1"/>
                </a:solidFill>
              </a:rPr>
              <a:t>باستخدام الذكاء الاصطناعي 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D3968624-5F2F-5A31-89FC-AEA38BCBF5B9}"/>
              </a:ext>
            </a:extLst>
          </p:cNvPr>
          <p:cNvSpPr/>
          <p:nvPr/>
        </p:nvSpPr>
        <p:spPr>
          <a:xfrm>
            <a:off x="1053297" y="2766349"/>
            <a:ext cx="10104698" cy="33566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ar-SY" b="1" dirty="0">
              <a:solidFill>
                <a:schemeClr val="bg1"/>
              </a:solidFill>
            </a:endParaRPr>
          </a:p>
          <a:p>
            <a:pPr algn="ctr"/>
            <a:endParaRPr lang="ar-SY" b="1" dirty="0">
              <a:solidFill>
                <a:schemeClr val="bg1"/>
              </a:solidFill>
            </a:endParaRPr>
          </a:p>
          <a:p>
            <a:pPr algn="ctr"/>
            <a:endParaRPr lang="ar-SY" b="1" dirty="0">
              <a:solidFill>
                <a:schemeClr val="bg1"/>
              </a:solidFill>
            </a:endParaRPr>
          </a:p>
          <a:p>
            <a:pPr algn="ctr"/>
            <a:r>
              <a:rPr lang="ar-SY" b="1" dirty="0">
                <a:solidFill>
                  <a:schemeClr val="bg1"/>
                </a:solidFill>
              </a:rPr>
              <a:t>     اعداد الطلاب :</a:t>
            </a:r>
          </a:p>
          <a:p>
            <a:pPr algn="ctr"/>
            <a:r>
              <a:rPr lang="ar-SY" dirty="0">
                <a:solidFill>
                  <a:schemeClr val="bg1"/>
                </a:solidFill>
              </a:rPr>
              <a:t>احمد علي حسن حسين                                                   محمد مفيد رستم</a:t>
            </a:r>
          </a:p>
          <a:p>
            <a:pPr algn="r" rtl="1"/>
            <a:r>
              <a:rPr lang="ar-SY" dirty="0">
                <a:solidFill>
                  <a:schemeClr val="bg1"/>
                </a:solidFill>
              </a:rPr>
              <a:t>                              حنان احمد </a:t>
            </a:r>
            <a:r>
              <a:rPr lang="ar-SY" dirty="0" err="1">
                <a:solidFill>
                  <a:schemeClr val="bg1"/>
                </a:solidFill>
              </a:rPr>
              <a:t>بعيتي</a:t>
            </a:r>
            <a:r>
              <a:rPr lang="ar-SY" dirty="0">
                <a:solidFill>
                  <a:schemeClr val="bg1"/>
                </a:solidFill>
              </a:rPr>
              <a:t>                                                          دعاء عدنان شاهين</a:t>
            </a:r>
          </a:p>
          <a:p>
            <a:pPr algn="r" rtl="1"/>
            <a:r>
              <a:rPr lang="ar-SY" dirty="0">
                <a:solidFill>
                  <a:schemeClr val="bg1"/>
                </a:solidFill>
              </a:rPr>
              <a:t>											</a:t>
            </a:r>
          </a:p>
          <a:p>
            <a:pPr algn="ctr" rtl="1"/>
            <a:r>
              <a:rPr lang="ar-SY" b="1" dirty="0">
                <a:solidFill>
                  <a:schemeClr val="bg1"/>
                </a:solidFill>
              </a:rPr>
              <a:t>     اشراف : </a:t>
            </a:r>
          </a:p>
          <a:p>
            <a:pPr algn="ctr" rtl="1"/>
            <a:r>
              <a:rPr lang="ar-SY" dirty="0">
                <a:solidFill>
                  <a:schemeClr val="bg1"/>
                </a:solidFill>
              </a:rPr>
              <a:t>  </a:t>
            </a:r>
            <a:r>
              <a:rPr lang="ar-SY" dirty="0" err="1">
                <a:solidFill>
                  <a:schemeClr val="bg1"/>
                </a:solidFill>
              </a:rPr>
              <a:t>د.علي</a:t>
            </a:r>
            <a:r>
              <a:rPr lang="ar-SY" dirty="0">
                <a:solidFill>
                  <a:schemeClr val="bg1"/>
                </a:solidFill>
              </a:rPr>
              <a:t> الحاتم  </a:t>
            </a:r>
          </a:p>
          <a:p>
            <a:pPr algn="ctr"/>
            <a:endParaRPr lang="ar-SY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05909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914400"/>
            <a:ext cx="107899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4800" b="1">
                <a:solidFill>
                  <a:srgbClr val="00C8F8"/>
                </a:solidFill>
                <a:latin typeface="Arial"/>
              </a:rPr>
              <a:t>NetArchAI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965960"/>
            <a:ext cx="10424160" cy="5232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800" b="1" dirty="0" err="1">
                <a:solidFill>
                  <a:srgbClr val="F5F9FC"/>
                </a:solidFill>
                <a:latin typeface="Arial"/>
              </a:rPr>
              <a:t>من</a:t>
            </a:r>
            <a:r>
              <a:rPr sz="28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F5F9FC"/>
                </a:solidFill>
                <a:latin typeface="Arial"/>
              </a:rPr>
              <a:t>المخطط</a:t>
            </a:r>
            <a:r>
              <a:rPr sz="28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F5F9FC"/>
                </a:solidFill>
                <a:latin typeface="Arial"/>
              </a:rPr>
              <a:t>المعماري</a:t>
            </a:r>
            <a:r>
              <a:rPr sz="28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F5F9FC"/>
                </a:solidFill>
                <a:latin typeface="Arial"/>
              </a:rPr>
              <a:t>إلى</a:t>
            </a:r>
            <a:r>
              <a:rPr sz="28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F5F9FC"/>
                </a:solidFill>
                <a:latin typeface="Arial"/>
              </a:rPr>
              <a:t>شبكة</a:t>
            </a:r>
            <a:r>
              <a:rPr sz="28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800" b="1" dirty="0" err="1">
                <a:solidFill>
                  <a:srgbClr val="F5F9FC"/>
                </a:solidFill>
                <a:latin typeface="Arial"/>
              </a:rPr>
              <a:t>سلكية</a:t>
            </a:r>
            <a:r>
              <a:rPr sz="2800" b="1" dirty="0">
                <a:solidFill>
                  <a:srgbClr val="F5F9FC"/>
                </a:solidFill>
                <a:latin typeface="Arial"/>
              </a:rPr>
              <a:t> </a:t>
            </a:r>
            <a:r>
              <a:rPr lang="ar-SY" sz="2800" b="1" dirty="0">
                <a:solidFill>
                  <a:srgbClr val="F5F9FC"/>
                </a:solidFill>
                <a:latin typeface="Arial"/>
              </a:rPr>
              <a:t>مولدة بالذكاء الاصطناعي</a:t>
            </a:r>
            <a:endParaRPr sz="2800" b="1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49808" y="27432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A6B9CC"/>
                </a:solidFill>
                <a:latin typeface="Arial"/>
              </a:rPr>
              <a:t>عرض مشروع | Laravel + React + AI + Network Optimization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5074920"/>
            <a:ext cx="1965960" cy="347472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00C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5111496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C8F8"/>
                </a:solidFill>
                <a:latin typeface="Arial"/>
              </a:rPr>
              <a:t>تحليل المخطط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5074920"/>
            <a:ext cx="1965960" cy="347472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108960" y="5111496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dirty="0" err="1">
                <a:solidFill>
                  <a:srgbClr val="FF6B35"/>
                </a:solidFill>
                <a:latin typeface="Arial"/>
              </a:rPr>
              <a:t>توليد</a:t>
            </a:r>
            <a:r>
              <a:rPr sz="1100" b="1" dirty="0">
                <a:solidFill>
                  <a:srgbClr val="FF6B35"/>
                </a:solidFill>
                <a:latin typeface="Arial"/>
              </a:rPr>
              <a:t> </a:t>
            </a:r>
            <a:r>
              <a:rPr sz="1100" b="1" dirty="0" err="1">
                <a:solidFill>
                  <a:srgbClr val="FF6B35"/>
                </a:solidFill>
                <a:latin typeface="Arial"/>
              </a:rPr>
              <a:t>الشبكة</a:t>
            </a:r>
            <a:endParaRPr sz="1100" b="1" dirty="0">
              <a:solidFill>
                <a:srgbClr val="FF6B35"/>
              </a:solidFill>
              <a:latin typeface="Arial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440679" y="5074920"/>
            <a:ext cx="1965960" cy="347472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40679" y="5111496"/>
            <a:ext cx="1965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0B981"/>
                </a:solidFill>
                <a:latin typeface="Arial"/>
              </a:rPr>
              <a:t>التحرير والتصدير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589788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A6B9CC"/>
                </a:solidFill>
                <a:latin typeface="Arial"/>
              </a:rPr>
              <a:t>حل متكامل لتصميم الشبكات اعتمادًا على بيانات المخطط ومساحة الغرف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A6B9CC"/>
                </a:solidFill>
                <a:latin typeface="Arial"/>
              </a:rPr>
              <a:t>NETARCHAI  |  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700" b="1">
                <a:solidFill>
                  <a:srgbClr val="F5F9FC"/>
                </a:solidFill>
                <a:latin typeface="Arial"/>
              </a:rPr>
              <a:t>مقدمة عن المشروع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27080" y="384048"/>
            <a:ext cx="685800" cy="73152"/>
          </a:xfrm>
          <a:prstGeom prst="rect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94183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C8F8"/>
                </a:solidFill>
                <a:latin typeface="Arial"/>
              </a:rPr>
              <a:t>01 | الفكرة والقيمة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1380744"/>
            <a:ext cx="5166360" cy="448056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28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0" name="TextBox 19"/>
          <p:cNvSpPr txBox="1"/>
          <p:nvPr/>
        </p:nvSpPr>
        <p:spPr>
          <a:xfrm>
            <a:off x="914400" y="17373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200" b="1">
                <a:solidFill>
                  <a:srgbClr val="FF6B35"/>
                </a:solidFill>
                <a:latin typeface="Arial"/>
              </a:rPr>
              <a:t>الفكرة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2414015"/>
            <a:ext cx="91440" cy="91440"/>
          </a:xfrm>
          <a:prstGeom prst="ellipse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5568" y="2331720"/>
            <a:ext cx="4325112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0">
                <a:solidFill>
                  <a:srgbClr val="F5F9FC"/>
                </a:solidFill>
                <a:latin typeface="Arial"/>
              </a:rPr>
              <a:t>رفع مخطط معماري للمبنى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2999232"/>
            <a:ext cx="91440" cy="91440"/>
          </a:xfrm>
          <a:prstGeom prst="ellipse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5568" y="2916936"/>
            <a:ext cx="4325112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0" dirty="0" err="1">
                <a:solidFill>
                  <a:srgbClr val="F5F9FC"/>
                </a:solidFill>
                <a:latin typeface="Arial"/>
              </a:rPr>
              <a:t>اكتشاف</a:t>
            </a:r>
            <a:r>
              <a:rPr sz="17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F5F9FC"/>
                </a:solidFill>
                <a:latin typeface="Arial"/>
              </a:rPr>
              <a:t>الغرف</a:t>
            </a:r>
            <a:r>
              <a:rPr sz="17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F5F9FC"/>
                </a:solidFill>
                <a:latin typeface="Arial"/>
              </a:rPr>
              <a:t>وتصنيفها</a:t>
            </a:r>
            <a:endParaRPr sz="1700" b="0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25" name="Oval 24"/>
          <p:cNvSpPr/>
          <p:nvPr/>
        </p:nvSpPr>
        <p:spPr>
          <a:xfrm>
            <a:off x="914400" y="3584448"/>
            <a:ext cx="91440" cy="91440"/>
          </a:xfrm>
          <a:prstGeom prst="ellipse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15568" y="3502152"/>
            <a:ext cx="4325112" cy="5394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0">
                <a:solidFill>
                  <a:srgbClr val="F5F9FC"/>
                </a:solidFill>
                <a:latin typeface="Arial"/>
              </a:rPr>
              <a:t>اقتراح أجهزة الشبكة وتوزيعها</a:t>
            </a:r>
          </a:p>
        </p:txBody>
      </p:sp>
      <p:sp>
        <p:nvSpPr>
          <p:cNvPr id="29" name="Oval 28"/>
          <p:cNvSpPr/>
          <p:nvPr/>
        </p:nvSpPr>
        <p:spPr>
          <a:xfrm flipV="1">
            <a:off x="910140" y="4221868"/>
            <a:ext cx="84125" cy="91440"/>
          </a:xfrm>
          <a:prstGeom prst="ellipse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115568" y="4041648"/>
            <a:ext cx="4370832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0" dirty="0" err="1">
                <a:solidFill>
                  <a:srgbClr val="F5F9FC"/>
                </a:solidFill>
                <a:latin typeface="Arial"/>
              </a:rPr>
              <a:t>إتاحة</a:t>
            </a:r>
            <a:r>
              <a:rPr sz="17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F5F9FC"/>
                </a:solidFill>
                <a:latin typeface="Arial"/>
              </a:rPr>
              <a:t>التعديل</a:t>
            </a:r>
            <a:r>
              <a:rPr sz="17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F5F9FC"/>
                </a:solidFill>
                <a:latin typeface="Arial"/>
              </a:rPr>
              <a:t>والحفظ</a:t>
            </a:r>
            <a:r>
              <a:rPr sz="17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F5F9FC"/>
                </a:solidFill>
                <a:latin typeface="Arial"/>
              </a:rPr>
              <a:t>والتصدير</a:t>
            </a:r>
            <a:endParaRPr sz="1700" b="0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172200" y="1417320"/>
            <a:ext cx="5349240" cy="448056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28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46520" y="17373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200" b="1">
                <a:solidFill>
                  <a:srgbClr val="10B981"/>
                </a:solidFill>
                <a:latin typeface="Arial"/>
              </a:rPr>
              <a:t>القيمة المضافة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20" y="2423160"/>
            <a:ext cx="46634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100" b="1">
                <a:solidFill>
                  <a:srgbClr val="F5F9FC"/>
                </a:solidFill>
                <a:latin typeface="Arial"/>
              </a:rPr>
              <a:t>تقليل العمل اليدوي وتحويل صورة المخطط إلى تصور شبكة قابل للتنفيذ، مع إبقاء القرار النهائي بيد المصمم.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46520" y="4160520"/>
            <a:ext cx="2057400" cy="347472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00C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46520" y="4197096"/>
            <a:ext cx="2057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00C8F8"/>
                </a:solidFill>
                <a:latin typeface="Arial"/>
              </a:rPr>
              <a:t>AI-assisted design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32520" y="4160520"/>
            <a:ext cx="2148840" cy="347472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732520" y="4197096"/>
            <a:ext cx="21488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F6B35"/>
                </a:solidFill>
                <a:latin typeface="Arial"/>
              </a:rPr>
              <a:t>Editable topology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A6B9CC"/>
                </a:solidFill>
                <a:latin typeface="Arial"/>
              </a:rPr>
              <a:t>NETARCHAI  |  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700" b="1">
                <a:solidFill>
                  <a:srgbClr val="F5F9FC"/>
                </a:solidFill>
                <a:latin typeface="Arial"/>
              </a:rPr>
              <a:t>المشاكل والصعوبات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27080" y="384048"/>
            <a:ext cx="685800" cy="73152"/>
          </a:xfrm>
          <a:prstGeom prst="rect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94183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C8F8"/>
                </a:solidFill>
                <a:latin typeface="Arial"/>
              </a:rPr>
              <a:t>02 | لماذا نحتاج الحل؟</a:t>
            </a:r>
          </a:p>
        </p:txBody>
      </p:sp>
      <p:sp>
        <p:nvSpPr>
          <p:cNvPr id="19" name="Oval 18"/>
          <p:cNvSpPr/>
          <p:nvPr/>
        </p:nvSpPr>
        <p:spPr>
          <a:xfrm>
            <a:off x="777240" y="1499616"/>
            <a:ext cx="91440" cy="914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78408" y="1417320"/>
            <a:ext cx="10497311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100" b="0" dirty="0" err="1">
                <a:solidFill>
                  <a:srgbClr val="F5F9FC"/>
                </a:solidFill>
                <a:latin typeface="Arial"/>
              </a:rPr>
              <a:t>المخطط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صورة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غير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منظمة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.</a:t>
            </a:r>
          </a:p>
        </p:txBody>
      </p:sp>
      <p:sp>
        <p:nvSpPr>
          <p:cNvPr id="21" name="Oval 20"/>
          <p:cNvSpPr/>
          <p:nvPr/>
        </p:nvSpPr>
        <p:spPr>
          <a:xfrm>
            <a:off x="777240" y="2340863"/>
            <a:ext cx="91440" cy="914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78408" y="2258568"/>
            <a:ext cx="10497311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ar-SY" sz="2100" dirty="0">
                <a:solidFill>
                  <a:srgbClr val="F5F9FC"/>
                </a:solidFill>
                <a:latin typeface="Arial"/>
              </a:rPr>
              <a:t>لا يمكن البدء ببناء شبكة حاسوبية الا بعد الانتهاء من عملية البناء 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.</a:t>
            </a:r>
          </a:p>
        </p:txBody>
      </p:sp>
      <p:sp>
        <p:nvSpPr>
          <p:cNvPr id="23" name="Oval 22"/>
          <p:cNvSpPr/>
          <p:nvPr/>
        </p:nvSpPr>
        <p:spPr>
          <a:xfrm>
            <a:off x="777240" y="3182111"/>
            <a:ext cx="91440" cy="914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78408" y="3099815"/>
            <a:ext cx="10497311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100" b="0" dirty="0" err="1">
                <a:solidFill>
                  <a:srgbClr val="F5F9FC"/>
                </a:solidFill>
                <a:latin typeface="Arial"/>
              </a:rPr>
              <a:t>اختيار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عدد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السويتشات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والمنافذ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والتوصيلات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يحتاج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حسابات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متكررة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.</a:t>
            </a:r>
          </a:p>
        </p:txBody>
      </p:sp>
      <p:sp>
        <p:nvSpPr>
          <p:cNvPr id="25" name="Oval 24"/>
          <p:cNvSpPr/>
          <p:nvPr/>
        </p:nvSpPr>
        <p:spPr>
          <a:xfrm>
            <a:off x="777240" y="4023359"/>
            <a:ext cx="91440" cy="914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8408" y="3964213"/>
            <a:ext cx="10497311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100" b="0" dirty="0" err="1">
                <a:solidFill>
                  <a:srgbClr val="F5F9FC"/>
                </a:solidFill>
                <a:latin typeface="Arial"/>
              </a:rPr>
              <a:t>اختلاف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أنواع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الغرف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وصيغ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البيانات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بين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الأنظمة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قد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يسبب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قرارات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غير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دقيقة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7240" y="5532120"/>
            <a:ext cx="10698480" cy="502920"/>
          </a:xfrm>
          <a:prstGeom prst="roundRect">
            <a:avLst/>
          </a:prstGeom>
          <a:solidFill>
            <a:srgbClr val="2D1C19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650992"/>
            <a:ext cx="102412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600" b="1" dirty="0" err="1">
                <a:solidFill>
                  <a:srgbClr val="FF6B35"/>
                </a:solidFill>
                <a:latin typeface="Arial"/>
              </a:rPr>
              <a:t>المشكلة</a:t>
            </a:r>
            <a:r>
              <a:rPr sz="1600" b="1" dirty="0">
                <a:solidFill>
                  <a:srgbClr val="FF6B35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FF6B35"/>
                </a:solidFill>
                <a:latin typeface="Arial"/>
              </a:rPr>
              <a:t>المركزية</a:t>
            </a:r>
            <a:r>
              <a:rPr sz="1600" b="1" dirty="0">
                <a:solidFill>
                  <a:srgbClr val="FF6B35"/>
                </a:solidFill>
                <a:latin typeface="Arial"/>
              </a:rPr>
              <a:t>: </a:t>
            </a:r>
            <a:r>
              <a:rPr sz="1600" b="1" dirty="0" err="1">
                <a:solidFill>
                  <a:srgbClr val="FF6B35"/>
                </a:solidFill>
                <a:latin typeface="Arial"/>
              </a:rPr>
              <a:t>ربط</a:t>
            </a:r>
            <a:r>
              <a:rPr sz="1600" b="1" dirty="0">
                <a:solidFill>
                  <a:srgbClr val="FF6B35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FF6B35"/>
                </a:solidFill>
                <a:latin typeface="Arial"/>
              </a:rPr>
              <a:t>فهم</a:t>
            </a:r>
            <a:r>
              <a:rPr sz="1600" b="1" dirty="0">
                <a:solidFill>
                  <a:srgbClr val="FF6B35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FF6B35"/>
                </a:solidFill>
                <a:latin typeface="Arial"/>
              </a:rPr>
              <a:t>المكان</a:t>
            </a:r>
            <a:r>
              <a:rPr sz="1600" b="1" dirty="0">
                <a:solidFill>
                  <a:srgbClr val="FF6B35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FF6B35"/>
                </a:solidFill>
                <a:latin typeface="Arial"/>
              </a:rPr>
              <a:t>بالتخطيط</a:t>
            </a:r>
            <a:r>
              <a:rPr sz="1600" b="1" dirty="0">
                <a:solidFill>
                  <a:srgbClr val="FF6B35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FF6B35"/>
                </a:solidFill>
                <a:latin typeface="Arial"/>
              </a:rPr>
              <a:t>الشبكي</a:t>
            </a:r>
            <a:r>
              <a:rPr sz="1600" b="1" dirty="0">
                <a:solidFill>
                  <a:srgbClr val="FF6B35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FF6B35"/>
                </a:solidFill>
                <a:latin typeface="Arial"/>
              </a:rPr>
              <a:t>القابل</a:t>
            </a:r>
            <a:r>
              <a:rPr sz="1600" b="1" dirty="0">
                <a:solidFill>
                  <a:srgbClr val="FF6B35"/>
                </a:solidFill>
                <a:latin typeface="Arial"/>
              </a:rPr>
              <a:t> </a:t>
            </a:r>
            <a:r>
              <a:rPr sz="1600" b="1" dirty="0" err="1">
                <a:solidFill>
                  <a:srgbClr val="FF6B35"/>
                </a:solidFill>
                <a:latin typeface="Arial"/>
              </a:rPr>
              <a:t>للتنفيذ</a:t>
            </a:r>
            <a:r>
              <a:rPr sz="1600" b="1" dirty="0">
                <a:solidFill>
                  <a:srgbClr val="FF6B35"/>
                </a:solidFill>
                <a:latin typeface="Arial"/>
              </a:rPr>
              <a:t>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A6B9CC"/>
                </a:solidFill>
                <a:latin typeface="Arial"/>
              </a:rPr>
              <a:t>NETARCHAI  |  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700" b="1">
                <a:solidFill>
                  <a:srgbClr val="F5F9FC"/>
                </a:solidFill>
                <a:latin typeface="Arial"/>
              </a:rPr>
              <a:t>كيف تم حل الصعوبات؟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27080" y="384048"/>
            <a:ext cx="685800" cy="73152"/>
          </a:xfrm>
          <a:prstGeom prst="rect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94183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C8F8"/>
                </a:solidFill>
                <a:latin typeface="Arial"/>
              </a:rPr>
              <a:t>02 | منهجية الحل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286000" y="2743200"/>
            <a:ext cx="594360" cy="0"/>
          </a:xfrm>
          <a:prstGeom prst="line">
            <a:avLst/>
          </a:prstGeom>
          <a:ln w="19050">
            <a:solidFill>
              <a:srgbClr val="00C8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298448" y="1691640"/>
            <a:ext cx="621792" cy="621792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371600" y="1755648"/>
            <a:ext cx="4754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5F9FC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2514600"/>
            <a:ext cx="17830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 dirty="0">
                <a:solidFill>
                  <a:srgbClr val="F5F9FC"/>
                </a:solidFill>
                <a:latin typeface="Arial"/>
              </a:rPr>
              <a:t>ا</a:t>
            </a:r>
            <a:r>
              <a:rPr lang="ar-SY" sz="1800" b="1" dirty="0" err="1">
                <a:solidFill>
                  <a:srgbClr val="F5F9FC"/>
                </a:solidFill>
                <a:latin typeface="Arial"/>
              </a:rPr>
              <a:t>لإ</a:t>
            </a:r>
            <a:r>
              <a:rPr sz="1800" b="1" dirty="0" err="1">
                <a:solidFill>
                  <a:srgbClr val="F5F9FC"/>
                </a:solidFill>
                <a:latin typeface="Arial"/>
              </a:rPr>
              <a:t>كتشاف</a:t>
            </a:r>
            <a:endParaRPr sz="1800" b="1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31520" y="297180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6B9CC"/>
                </a:solidFill>
                <a:latin typeface="Arial"/>
              </a:rPr>
              <a:t>YOLO + Keras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553712" y="2743200"/>
            <a:ext cx="594360" cy="0"/>
          </a:xfrm>
          <a:prstGeom prst="line">
            <a:avLst/>
          </a:prstGeom>
          <a:ln w="19050">
            <a:solidFill>
              <a:srgbClr val="00C8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3566160" y="1691640"/>
            <a:ext cx="621792" cy="621792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39312" y="1755648"/>
            <a:ext cx="4754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5F9FC"/>
                </a:solidFill>
                <a:latin typeface="Arial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99232" y="2514600"/>
            <a:ext cx="17830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ar-SY" sz="1800" b="1" dirty="0">
                <a:solidFill>
                  <a:srgbClr val="F5F9FC"/>
                </a:solidFill>
                <a:latin typeface="Arial"/>
              </a:rPr>
              <a:t>ال</a:t>
            </a:r>
            <a:r>
              <a:rPr sz="1800" b="1" dirty="0" err="1">
                <a:solidFill>
                  <a:srgbClr val="F5F9FC"/>
                </a:solidFill>
                <a:latin typeface="Arial"/>
              </a:rPr>
              <a:t>تفسير</a:t>
            </a:r>
            <a:endParaRPr sz="1800" b="1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2999232" y="297180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6B9CC"/>
                </a:solidFill>
                <a:latin typeface="Arial"/>
              </a:rPr>
              <a:t>Rooms + corners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821424" y="2743200"/>
            <a:ext cx="594359" cy="0"/>
          </a:xfrm>
          <a:prstGeom prst="line">
            <a:avLst/>
          </a:prstGeom>
          <a:ln w="19050">
            <a:solidFill>
              <a:srgbClr val="00C8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833872" y="1691640"/>
            <a:ext cx="621792" cy="621792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07024" y="1755648"/>
            <a:ext cx="4754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5F9FC"/>
                </a:solidFill>
                <a:latin typeface="Arial"/>
              </a:rP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66944" y="2514600"/>
            <a:ext cx="17830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lang="ar-SY" sz="1800" b="1" dirty="0">
                <a:solidFill>
                  <a:srgbClr val="F5F9FC"/>
                </a:solidFill>
                <a:latin typeface="Arial"/>
              </a:rPr>
              <a:t>الحساب و ال</a:t>
            </a:r>
            <a:r>
              <a:rPr sz="1800" b="1" dirty="0" err="1">
                <a:solidFill>
                  <a:srgbClr val="F5F9FC"/>
                </a:solidFill>
                <a:latin typeface="Arial"/>
              </a:rPr>
              <a:t>تحسين</a:t>
            </a:r>
            <a:endParaRPr sz="1800" b="1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66944" y="2971800"/>
            <a:ext cx="1783080" cy="492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dirty="0">
                <a:solidFill>
                  <a:srgbClr val="A6B9CC"/>
                </a:solidFill>
                <a:latin typeface="Arial"/>
              </a:rPr>
              <a:t>OR-Tools CP-SAT</a:t>
            </a:r>
            <a:endParaRPr lang="ar-SY" sz="1300" b="0" dirty="0">
              <a:solidFill>
                <a:srgbClr val="A6B9CC"/>
              </a:solidFill>
              <a:latin typeface="Arial"/>
            </a:endParaRPr>
          </a:p>
          <a:p>
            <a:pPr algn="ctr"/>
            <a:r>
              <a:rPr lang="en-US" sz="1300" dirty="0">
                <a:solidFill>
                  <a:srgbClr val="A6B9CC"/>
                </a:solidFill>
                <a:latin typeface="Arial"/>
              </a:rPr>
              <a:t>Genetic Algorithm</a:t>
            </a:r>
            <a:endParaRPr sz="1300" b="0" dirty="0">
              <a:solidFill>
                <a:srgbClr val="A6B9CC"/>
              </a:solidFill>
              <a:latin typeface="Arial"/>
            </a:endParaRPr>
          </a:p>
        </p:txBody>
      </p:sp>
      <p:cxnSp>
        <p:nvCxnSpPr>
          <p:cNvPr id="34" name="Connector 33"/>
          <p:cNvCxnSpPr/>
          <p:nvPr/>
        </p:nvCxnSpPr>
        <p:spPr>
          <a:xfrm>
            <a:off x="9089136" y="2743200"/>
            <a:ext cx="594360" cy="0"/>
          </a:xfrm>
          <a:prstGeom prst="line">
            <a:avLst/>
          </a:prstGeom>
          <a:ln w="19050">
            <a:solidFill>
              <a:srgbClr val="00C8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8101583" y="1691640"/>
            <a:ext cx="621792" cy="621792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174736" y="1755648"/>
            <a:ext cx="4754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5F9FC"/>
                </a:solidFill>
                <a:latin typeface="Arial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34656" y="2514600"/>
            <a:ext cx="17830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ar-SY" sz="1800" b="1" dirty="0">
                <a:solidFill>
                  <a:srgbClr val="F5F9FC"/>
                </a:solidFill>
                <a:latin typeface="Arial"/>
              </a:rPr>
              <a:t>ال</a:t>
            </a:r>
            <a:r>
              <a:rPr sz="1800" b="1" dirty="0" err="1">
                <a:solidFill>
                  <a:srgbClr val="F5F9FC"/>
                </a:solidFill>
                <a:latin typeface="Arial"/>
              </a:rPr>
              <a:t>عرض</a:t>
            </a:r>
            <a:endParaRPr sz="1800" b="1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7534656" y="297180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6B9CC"/>
                </a:solidFill>
                <a:latin typeface="Arial"/>
              </a:rPr>
              <a:t>React Canvas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369296" y="1691640"/>
            <a:ext cx="621792" cy="621792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442448" y="1755648"/>
            <a:ext cx="475488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5F9FC"/>
                </a:solidFill>
                <a:latin typeface="Arial"/>
              </a:rPr>
              <a:t>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02368" y="2514600"/>
            <a:ext cx="178308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lang="ar-SY" b="1" dirty="0">
                <a:solidFill>
                  <a:srgbClr val="F5F9FC"/>
                </a:solidFill>
                <a:latin typeface="Arial"/>
              </a:rPr>
              <a:t>ال</a:t>
            </a:r>
            <a:r>
              <a:rPr sz="1800" b="1" dirty="0" err="1">
                <a:solidFill>
                  <a:srgbClr val="F5F9FC"/>
                </a:solidFill>
                <a:latin typeface="Arial"/>
              </a:rPr>
              <a:t>تصدير</a:t>
            </a:r>
            <a:endParaRPr sz="1800" b="1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802368" y="2971800"/>
            <a:ext cx="1783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A6B9CC"/>
                </a:solidFill>
                <a:latin typeface="Arial"/>
              </a:rPr>
              <a:t>PDF report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" y="4754880"/>
            <a:ext cx="1024128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2000" b="1" dirty="0" err="1">
                <a:solidFill>
                  <a:srgbClr val="F5F9FC"/>
                </a:solidFill>
                <a:latin typeface="Arial"/>
              </a:rPr>
              <a:t>التقسيم</a:t>
            </a:r>
            <a:r>
              <a:rPr sz="20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9FC"/>
                </a:solidFill>
                <a:latin typeface="Arial"/>
              </a:rPr>
              <a:t>إلى</a:t>
            </a:r>
            <a:r>
              <a:rPr sz="20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9FC"/>
                </a:solidFill>
                <a:latin typeface="Arial"/>
              </a:rPr>
              <a:t>خدمات</a:t>
            </a:r>
            <a:r>
              <a:rPr sz="20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9FC"/>
                </a:solidFill>
                <a:latin typeface="Arial"/>
              </a:rPr>
              <a:t>متخصصة</a:t>
            </a:r>
            <a:r>
              <a:rPr sz="20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9FC"/>
                </a:solidFill>
                <a:latin typeface="Arial"/>
              </a:rPr>
              <a:t>جعل</a:t>
            </a:r>
            <a:r>
              <a:rPr sz="20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9FC"/>
                </a:solidFill>
                <a:latin typeface="Arial"/>
              </a:rPr>
              <a:t>دورة</a:t>
            </a:r>
            <a:r>
              <a:rPr sz="20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9FC"/>
                </a:solidFill>
                <a:latin typeface="Arial"/>
              </a:rPr>
              <a:t>العمل</a:t>
            </a:r>
            <a:r>
              <a:rPr sz="20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9FC"/>
                </a:solidFill>
                <a:latin typeface="Arial"/>
              </a:rPr>
              <a:t>قابلة</a:t>
            </a:r>
            <a:r>
              <a:rPr sz="20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9FC"/>
                </a:solidFill>
                <a:latin typeface="Arial"/>
              </a:rPr>
              <a:t>للتوسع</a:t>
            </a:r>
            <a:r>
              <a:rPr sz="20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9FC"/>
                </a:solidFill>
                <a:latin typeface="Arial"/>
              </a:rPr>
              <a:t>والفحص</a:t>
            </a:r>
            <a:r>
              <a:rPr sz="2000" b="1" dirty="0">
                <a:solidFill>
                  <a:srgbClr val="F5F9FC"/>
                </a:solidFill>
                <a:latin typeface="Arial"/>
              </a:rPr>
              <a:t>، </a:t>
            </a:r>
            <a:r>
              <a:rPr sz="2000" b="1" dirty="0" err="1">
                <a:solidFill>
                  <a:srgbClr val="F5F9FC"/>
                </a:solidFill>
                <a:latin typeface="Arial"/>
              </a:rPr>
              <a:t>مع</a:t>
            </a:r>
            <a:r>
              <a:rPr sz="20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9FC"/>
                </a:solidFill>
                <a:latin typeface="Arial"/>
              </a:rPr>
              <a:t>حفظ</a:t>
            </a:r>
            <a:r>
              <a:rPr sz="20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9FC"/>
                </a:solidFill>
                <a:latin typeface="Arial"/>
              </a:rPr>
              <a:t>النتائج</a:t>
            </a:r>
            <a:r>
              <a:rPr sz="20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9FC"/>
                </a:solidFill>
                <a:latin typeface="Arial"/>
              </a:rPr>
              <a:t>في</a:t>
            </a:r>
            <a:r>
              <a:rPr sz="2000" b="1" dirty="0">
                <a:solidFill>
                  <a:srgbClr val="F5F9FC"/>
                </a:solidFill>
                <a:latin typeface="Arial"/>
              </a:rPr>
              <a:t> Laravel</a:t>
            </a:r>
            <a:r>
              <a:rPr lang="ar-SY" sz="2000" b="1" dirty="0">
                <a:solidFill>
                  <a:srgbClr val="F5F9FC"/>
                </a:solidFill>
                <a:latin typeface="Arial"/>
              </a:rPr>
              <a:t> </a:t>
            </a:r>
            <a:endParaRPr lang="en-US" sz="2000" b="1" dirty="0">
              <a:solidFill>
                <a:srgbClr val="F5F9FC"/>
              </a:solidFill>
              <a:latin typeface="Arial"/>
            </a:endParaRPr>
          </a:p>
          <a:p>
            <a:pPr algn="ctr" rtl="1"/>
            <a:r>
              <a:rPr sz="20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9FC"/>
                </a:solidFill>
                <a:latin typeface="Arial"/>
              </a:rPr>
              <a:t>وإعادة</a:t>
            </a:r>
            <a:r>
              <a:rPr sz="20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9FC"/>
                </a:solidFill>
                <a:latin typeface="Arial"/>
              </a:rPr>
              <a:t>استخدامها</a:t>
            </a:r>
            <a:r>
              <a:rPr sz="20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F5F9FC"/>
                </a:solidFill>
                <a:latin typeface="Arial"/>
              </a:rPr>
              <a:t>في</a:t>
            </a:r>
            <a:r>
              <a:rPr sz="2000" b="1" dirty="0">
                <a:solidFill>
                  <a:srgbClr val="F5F9FC"/>
                </a:solidFill>
                <a:latin typeface="Arial"/>
              </a:rPr>
              <a:t> </a:t>
            </a:r>
            <a:r>
              <a:rPr lang="en-US" sz="2000" b="1" dirty="0">
                <a:solidFill>
                  <a:srgbClr val="F5F9FC"/>
                </a:solidFill>
                <a:latin typeface="Arial"/>
              </a:rPr>
              <a:t>frontend</a:t>
            </a:r>
            <a:endParaRPr sz="2000" b="1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dirty="0">
                <a:solidFill>
                  <a:srgbClr val="A6B9CC"/>
                </a:solidFill>
                <a:latin typeface="Arial"/>
              </a:rPr>
              <a:t>NETARCHAI  |  04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11575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700" b="1">
                <a:solidFill>
                  <a:srgbClr val="F5F9FC"/>
                </a:solidFill>
                <a:latin typeface="Arial"/>
              </a:rPr>
              <a:t>الخدمات المقدمة في المشروع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27080" y="384048"/>
            <a:ext cx="685800" cy="73152"/>
          </a:xfrm>
          <a:prstGeom prst="rect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94183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C8F8"/>
                </a:solidFill>
                <a:latin typeface="Arial"/>
              </a:rPr>
              <a:t>03 | ما الذي يقدمه النظام؟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1417320"/>
            <a:ext cx="3337560" cy="150876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00C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164592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00C8F8"/>
                </a:solidFill>
                <a:latin typeface="Arial"/>
              </a:rPr>
              <a:t>إدارة الحساب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167128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F5F9FC"/>
                </a:solidFill>
                <a:latin typeface="Arial"/>
              </a:rPr>
              <a:t>Register, Login, verification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26280" y="1417320"/>
            <a:ext cx="3337560" cy="150876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09160" y="164592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FF6B35"/>
                </a:solidFill>
                <a:latin typeface="Arial"/>
              </a:rPr>
              <a:t>إدارة المشاريع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09160" y="2167128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F5F9FC"/>
                </a:solidFill>
                <a:latin typeface="Arial"/>
              </a:rPr>
              <a:t>إنشاء، عرض، حذف، حالة التحليل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1417320"/>
            <a:ext cx="3337560" cy="150876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503920" y="164592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10B981"/>
                </a:solidFill>
                <a:latin typeface="Arial"/>
              </a:rPr>
              <a:t>تحليل المخطط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2167128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dirty="0" err="1">
                <a:solidFill>
                  <a:srgbClr val="F5F9FC"/>
                </a:solidFill>
                <a:latin typeface="Arial"/>
              </a:rPr>
              <a:t>اكتشاف</a:t>
            </a:r>
            <a:r>
              <a:rPr sz="14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5F9FC"/>
                </a:solidFill>
                <a:latin typeface="Arial"/>
              </a:rPr>
              <a:t>الغرف</a:t>
            </a:r>
            <a:r>
              <a:rPr sz="14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5F9FC"/>
                </a:solidFill>
                <a:latin typeface="Arial"/>
              </a:rPr>
              <a:t>والزوايا</a:t>
            </a:r>
            <a:r>
              <a:rPr sz="14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5F9FC"/>
                </a:solidFill>
                <a:latin typeface="Arial"/>
              </a:rPr>
              <a:t>والمساحات</a:t>
            </a:r>
            <a:endParaRPr sz="1400" b="0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31520" y="3429000"/>
            <a:ext cx="3337560" cy="150876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00C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365760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00C8F8"/>
                </a:solidFill>
                <a:latin typeface="Arial"/>
              </a:rPr>
              <a:t>تصميم الشبكة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178808"/>
            <a:ext cx="2971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ar-SY" sz="1400" b="0" dirty="0">
                <a:solidFill>
                  <a:srgbClr val="F5F9FC"/>
                </a:solidFill>
                <a:latin typeface="Arial"/>
              </a:rPr>
              <a:t>بناء الشبكة الحاسوبية السلكية</a:t>
            </a:r>
            <a:endParaRPr sz="1400" b="0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4526280" y="3429000"/>
            <a:ext cx="3337560" cy="150876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709160" y="365760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FF6B35"/>
                </a:solidFill>
                <a:latin typeface="Arial"/>
              </a:rPr>
              <a:t>لوحة التحكم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4178808"/>
            <a:ext cx="29718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F5F9FC"/>
                </a:solidFill>
                <a:latin typeface="Arial"/>
              </a:rPr>
              <a:t>إحصاءات المستخدمين والمشاريع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3429000"/>
            <a:ext cx="3337560" cy="150876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503920" y="3657600"/>
            <a:ext cx="2971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000" b="1">
                <a:solidFill>
                  <a:srgbClr val="10B981"/>
                </a:solidFill>
                <a:latin typeface="Arial"/>
              </a:rPr>
              <a:t>التصدير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4178808"/>
            <a:ext cx="2971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 dirty="0" err="1">
                <a:solidFill>
                  <a:srgbClr val="F5F9FC"/>
                </a:solidFill>
                <a:latin typeface="Arial"/>
              </a:rPr>
              <a:t>تقرير</a:t>
            </a:r>
            <a:r>
              <a:rPr lang="en-US" sz="1400" b="0" dirty="0" err="1">
                <a:solidFill>
                  <a:srgbClr val="F5F9FC"/>
                </a:solidFill>
                <a:latin typeface="Arial"/>
              </a:rPr>
              <a:t>pdf</a:t>
            </a:r>
            <a:r>
              <a:rPr lang="en-US" sz="1400" b="0" dirty="0">
                <a:solidFill>
                  <a:srgbClr val="F5F9FC"/>
                </a:solidFill>
                <a:latin typeface="Arial"/>
              </a:rPr>
              <a:t> </a:t>
            </a:r>
            <a:r>
              <a:rPr lang="ar-SY" sz="1400" dirty="0">
                <a:solidFill>
                  <a:srgbClr val="F5F9FC"/>
                </a:solidFill>
                <a:latin typeface="Arial"/>
              </a:rPr>
              <a:t> مفصل قابل للمشاركة</a:t>
            </a:r>
            <a:endParaRPr sz="1400" b="0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A6B9CC"/>
                </a:solidFill>
                <a:latin typeface="Arial"/>
              </a:rPr>
              <a:t>NETARCHAI  |  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11575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700" b="1">
                <a:solidFill>
                  <a:srgbClr val="F5F9FC"/>
                </a:solidFill>
                <a:latin typeface="Arial"/>
              </a:rPr>
              <a:t>التقنيات المستخدمة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27080" y="384048"/>
            <a:ext cx="685800" cy="73152"/>
          </a:xfrm>
          <a:prstGeom prst="rect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94183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C8F8"/>
                </a:solidFill>
                <a:latin typeface="Arial"/>
              </a:rPr>
              <a:t>04 | Backend, Frontend, Python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1417320"/>
            <a:ext cx="3429000" cy="443484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00C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60" y="1719072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 dirty="0">
                <a:solidFill>
                  <a:srgbClr val="00C8F8"/>
                </a:solidFill>
                <a:latin typeface="Arial"/>
              </a:rPr>
              <a:t>Backend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2505456"/>
            <a:ext cx="91440" cy="91440"/>
          </a:xfrm>
          <a:prstGeom prst="ellipse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5568" y="2423160"/>
            <a:ext cx="2587751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dirty="0">
                <a:solidFill>
                  <a:srgbClr val="F5F9FC"/>
                </a:solidFill>
                <a:latin typeface="Arial"/>
              </a:rPr>
              <a:t>Laravel 12 / PHP 8.2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3225546"/>
            <a:ext cx="91440" cy="91440"/>
          </a:xfrm>
          <a:prstGeom prst="ellipse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5568" y="3143250"/>
            <a:ext cx="2587751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dirty="0">
                <a:solidFill>
                  <a:srgbClr val="F5F9FC"/>
                </a:solidFill>
                <a:latin typeface="Arial"/>
              </a:rPr>
              <a:t>Eloquent ORM + migrations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3945635"/>
            <a:ext cx="91440" cy="91440"/>
          </a:xfrm>
          <a:prstGeom prst="ellipse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15568" y="3863339"/>
            <a:ext cx="2587751" cy="6743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 dirty="0">
                <a:solidFill>
                  <a:srgbClr val="F5F9FC"/>
                </a:solidFill>
                <a:latin typeface="Arial"/>
              </a:rPr>
              <a:t>Sanctum authentication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4665725"/>
            <a:ext cx="91440" cy="91440"/>
          </a:xfrm>
          <a:prstGeom prst="ellipse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15568" y="4583429"/>
            <a:ext cx="2587751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dirty="0">
                <a:solidFill>
                  <a:srgbClr val="F5F9FC"/>
                </a:solidFill>
                <a:latin typeface="Arial"/>
              </a:rPr>
              <a:t>Guzzle / HTTP Client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1417320"/>
            <a:ext cx="3429000" cy="443484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663440" y="1719072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 dirty="0">
                <a:solidFill>
                  <a:srgbClr val="FF6B35"/>
                </a:solidFill>
                <a:latin typeface="Arial"/>
              </a:rPr>
              <a:t>Frontend</a:t>
            </a:r>
          </a:p>
        </p:txBody>
      </p:sp>
      <p:sp>
        <p:nvSpPr>
          <p:cNvPr id="31" name="Oval 30"/>
          <p:cNvSpPr/>
          <p:nvPr/>
        </p:nvSpPr>
        <p:spPr>
          <a:xfrm>
            <a:off x="4754880" y="2505456"/>
            <a:ext cx="91440" cy="914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956048" y="2423160"/>
            <a:ext cx="2587751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dirty="0">
                <a:solidFill>
                  <a:srgbClr val="F5F9FC"/>
                </a:solidFill>
                <a:latin typeface="Arial"/>
              </a:rPr>
              <a:t>React 18 + Vite</a:t>
            </a:r>
          </a:p>
        </p:txBody>
      </p:sp>
      <p:sp>
        <p:nvSpPr>
          <p:cNvPr id="33" name="Oval 32"/>
          <p:cNvSpPr/>
          <p:nvPr/>
        </p:nvSpPr>
        <p:spPr>
          <a:xfrm>
            <a:off x="4754880" y="3225546"/>
            <a:ext cx="91440" cy="914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956048" y="3143250"/>
            <a:ext cx="2587751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dirty="0">
                <a:solidFill>
                  <a:srgbClr val="F5F9FC"/>
                </a:solidFill>
                <a:latin typeface="Arial"/>
              </a:rPr>
              <a:t>React Router 6</a:t>
            </a:r>
          </a:p>
        </p:txBody>
      </p:sp>
      <p:sp>
        <p:nvSpPr>
          <p:cNvPr id="35" name="Oval 34"/>
          <p:cNvSpPr/>
          <p:nvPr/>
        </p:nvSpPr>
        <p:spPr>
          <a:xfrm>
            <a:off x="4754880" y="3945635"/>
            <a:ext cx="91440" cy="914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956048" y="3863339"/>
            <a:ext cx="2587751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dirty="0">
                <a:solidFill>
                  <a:srgbClr val="F5F9FC"/>
                </a:solidFill>
                <a:latin typeface="Arial"/>
              </a:rPr>
              <a:t>CSS Modules</a:t>
            </a:r>
          </a:p>
        </p:txBody>
      </p:sp>
      <p:sp>
        <p:nvSpPr>
          <p:cNvPr id="37" name="Oval 36"/>
          <p:cNvSpPr/>
          <p:nvPr/>
        </p:nvSpPr>
        <p:spPr>
          <a:xfrm>
            <a:off x="4754880" y="4665725"/>
            <a:ext cx="91440" cy="914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956048" y="4583429"/>
            <a:ext cx="2587751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dirty="0">
                <a:solidFill>
                  <a:srgbClr val="F5F9FC"/>
                </a:solidFill>
                <a:latin typeface="Arial"/>
              </a:rPr>
              <a:t>Canvas +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jsPDF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+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AutoTable</a:t>
            </a:r>
            <a:endParaRPr sz="1600" b="0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275320" y="1417320"/>
            <a:ext cx="3429000" cy="443484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503920" y="1719072"/>
            <a:ext cx="2971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 dirty="0">
                <a:solidFill>
                  <a:srgbClr val="10B981"/>
                </a:solidFill>
                <a:latin typeface="Arial"/>
              </a:rPr>
              <a:t>Python / AI</a:t>
            </a:r>
          </a:p>
        </p:txBody>
      </p:sp>
      <p:sp>
        <p:nvSpPr>
          <p:cNvPr id="41" name="Oval 40"/>
          <p:cNvSpPr/>
          <p:nvPr/>
        </p:nvSpPr>
        <p:spPr>
          <a:xfrm>
            <a:off x="8595360" y="2505456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796528" y="2423160"/>
            <a:ext cx="2587751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dirty="0">
                <a:solidFill>
                  <a:srgbClr val="F5F9FC"/>
                </a:solidFill>
                <a:latin typeface="Arial"/>
              </a:rPr>
              <a:t>Flask: hybrid_api.py</a:t>
            </a:r>
          </a:p>
        </p:txBody>
      </p:sp>
      <p:sp>
        <p:nvSpPr>
          <p:cNvPr id="43" name="Oval 42"/>
          <p:cNvSpPr/>
          <p:nvPr/>
        </p:nvSpPr>
        <p:spPr>
          <a:xfrm>
            <a:off x="8595360" y="3081527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796528" y="2999232"/>
            <a:ext cx="2587751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dirty="0" err="1">
                <a:solidFill>
                  <a:srgbClr val="F5F9FC"/>
                </a:solidFill>
                <a:latin typeface="Arial"/>
              </a:rPr>
              <a:t>FastAPI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: api_wierd.py</a:t>
            </a:r>
          </a:p>
        </p:txBody>
      </p:sp>
      <p:sp>
        <p:nvSpPr>
          <p:cNvPr id="45" name="Oval 44"/>
          <p:cNvSpPr/>
          <p:nvPr/>
        </p:nvSpPr>
        <p:spPr>
          <a:xfrm>
            <a:off x="8595360" y="365760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96528" y="3575304"/>
            <a:ext cx="2587751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dirty="0">
                <a:solidFill>
                  <a:srgbClr val="F5F9FC"/>
                </a:solidFill>
                <a:latin typeface="Arial"/>
              </a:rPr>
              <a:t>YOLO + TensorFlow/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Keras</a:t>
            </a:r>
            <a:endParaRPr sz="1600" b="0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8595360" y="4233672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796528" y="4151376"/>
            <a:ext cx="2587751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dirty="0">
                <a:solidFill>
                  <a:srgbClr val="F5F9FC"/>
                </a:solidFill>
                <a:latin typeface="Arial"/>
              </a:rPr>
              <a:t>OpenCV + NumPy + Shapely</a:t>
            </a:r>
          </a:p>
        </p:txBody>
      </p:sp>
      <p:sp>
        <p:nvSpPr>
          <p:cNvPr id="49" name="Oval 48"/>
          <p:cNvSpPr/>
          <p:nvPr/>
        </p:nvSpPr>
        <p:spPr>
          <a:xfrm>
            <a:off x="8595360" y="480974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796528" y="4727448"/>
            <a:ext cx="2587751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dirty="0">
                <a:solidFill>
                  <a:srgbClr val="F5F9FC"/>
                </a:solidFill>
                <a:latin typeface="Arial"/>
              </a:rPr>
              <a:t>OR-Tools CP-SAT</a:t>
            </a:r>
            <a:r>
              <a:rPr lang="ar-SY" sz="1600" b="0" dirty="0">
                <a:solidFill>
                  <a:srgbClr val="F5F9FC"/>
                </a:solidFill>
                <a:latin typeface="Arial"/>
              </a:rPr>
              <a:t> +</a:t>
            </a:r>
          </a:p>
          <a:p>
            <a:pPr algn="ctr"/>
            <a:r>
              <a:rPr lang="en-US" sz="1600" dirty="0">
                <a:solidFill>
                  <a:srgbClr val="F5F9FC"/>
                </a:solidFill>
                <a:latin typeface="Arial"/>
              </a:rPr>
              <a:t>Genetic Algorithm</a:t>
            </a:r>
            <a:endParaRPr sz="1600" b="0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A6B9CC"/>
                </a:solidFill>
                <a:latin typeface="Arial"/>
              </a:rPr>
              <a:t>NETARCHAI  |  06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700" b="1">
                <a:solidFill>
                  <a:srgbClr val="F5F9FC"/>
                </a:solidFill>
                <a:latin typeface="Arial"/>
              </a:rPr>
              <a:t>الميزات التقنية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27080" y="384048"/>
            <a:ext cx="685800" cy="73152"/>
          </a:xfrm>
          <a:prstGeom prst="rect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94183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C8F8"/>
                </a:solidFill>
                <a:latin typeface="Arial"/>
              </a:rPr>
              <a:t>04 | منطق التنفيذ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1325880"/>
            <a:ext cx="10515600" cy="658368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28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7280" y="1444752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 dirty="0" err="1">
                <a:solidFill>
                  <a:srgbClr val="00C8F8"/>
                </a:solidFill>
                <a:latin typeface="Arial"/>
              </a:rPr>
              <a:t>اكتشاف</a:t>
            </a:r>
            <a:r>
              <a:rPr sz="1700" b="1" dirty="0">
                <a:solidFill>
                  <a:srgbClr val="00C8F8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00C8F8"/>
                </a:solidFill>
                <a:latin typeface="Arial"/>
              </a:rPr>
              <a:t>مكاني</a:t>
            </a:r>
            <a:endParaRPr sz="1700" b="1" dirty="0">
              <a:solidFill>
                <a:srgbClr val="00C8F8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11880" y="1444752"/>
            <a:ext cx="7223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 dirty="0" err="1">
                <a:solidFill>
                  <a:srgbClr val="F5F9FC"/>
                </a:solidFill>
                <a:latin typeface="Arial"/>
              </a:rPr>
              <a:t>تحليل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الصورة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واستخراج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الغرف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والزوايا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والمراكز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2194560"/>
            <a:ext cx="10515600" cy="658368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28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2313432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00C8F8"/>
                </a:solidFill>
                <a:latin typeface="Arial"/>
              </a:rPr>
              <a:t>تحسين قيودي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2313432"/>
            <a:ext cx="72237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0" dirty="0" err="1">
                <a:solidFill>
                  <a:srgbClr val="F5F9FC"/>
                </a:solidFill>
                <a:latin typeface="Arial"/>
              </a:rPr>
              <a:t>اختيار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مواقع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السويتشات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وفق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المسافة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والقيود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باستخدام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CP-SAT.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3063239"/>
            <a:ext cx="10515600" cy="658368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28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7280" y="3182111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 dirty="0" err="1">
                <a:solidFill>
                  <a:srgbClr val="00C8F8"/>
                </a:solidFill>
                <a:latin typeface="Arial"/>
              </a:rPr>
              <a:t>شبكة</a:t>
            </a:r>
            <a:r>
              <a:rPr sz="1700" b="1" dirty="0">
                <a:solidFill>
                  <a:srgbClr val="00C8F8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00C8F8"/>
                </a:solidFill>
                <a:latin typeface="Arial"/>
              </a:rPr>
              <a:t>قابلة</a:t>
            </a:r>
            <a:r>
              <a:rPr sz="1700" b="1" dirty="0">
                <a:solidFill>
                  <a:srgbClr val="00C8F8"/>
                </a:solidFill>
                <a:latin typeface="Arial"/>
              </a:rPr>
              <a:t> </a:t>
            </a:r>
            <a:r>
              <a:rPr sz="1700" b="1" dirty="0" err="1">
                <a:solidFill>
                  <a:srgbClr val="00C8F8"/>
                </a:solidFill>
                <a:latin typeface="Arial"/>
              </a:rPr>
              <a:t>للتفسير</a:t>
            </a:r>
            <a:endParaRPr sz="1700" b="1" dirty="0">
              <a:solidFill>
                <a:srgbClr val="00C8F8"/>
              </a:solidFill>
              <a:latin typeface="Arial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611880" y="3182111"/>
            <a:ext cx="72237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0" dirty="0" err="1">
                <a:solidFill>
                  <a:srgbClr val="F5F9FC"/>
                </a:solidFill>
                <a:latin typeface="Arial"/>
              </a:rPr>
              <a:t>توليد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lang="ar-SY" sz="1600" b="0" dirty="0">
                <a:solidFill>
                  <a:srgbClr val="F5F9FC"/>
                </a:solidFill>
                <a:latin typeface="Arial"/>
              </a:rPr>
              <a:t>الأجهزة الشبكية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والأجهزة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الطرفية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بروابط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واضحة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3931920"/>
            <a:ext cx="10515600" cy="658368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28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97280" y="4050791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00C8F8"/>
                </a:solidFill>
                <a:latin typeface="Arial"/>
              </a:rPr>
              <a:t>بيانات مترابطة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11880" y="4050791"/>
            <a:ext cx="72237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600" b="0" dirty="0" err="1">
                <a:solidFill>
                  <a:srgbClr val="F5F9FC"/>
                </a:solidFill>
                <a:latin typeface="Arial"/>
              </a:rPr>
              <a:t>حفظ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المشروع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والغرف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والأجهزة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في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قاعدة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بيانات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4800600"/>
            <a:ext cx="10515600" cy="658368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28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97280" y="4919472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700" b="1">
                <a:solidFill>
                  <a:srgbClr val="00C8F8"/>
                </a:solidFill>
                <a:latin typeface="Arial"/>
              </a:rPr>
              <a:t>تجربة تفاعلية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4919472"/>
            <a:ext cx="72237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lang="ar-SY"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Canvas </a:t>
            </a:r>
            <a:r>
              <a:rPr lang="ar-SY"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للتكبير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والتحريك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والتعديل</a:t>
            </a:r>
            <a:endParaRPr sz="1600" b="0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A6B9CC"/>
                </a:solidFill>
                <a:latin typeface="Arial"/>
              </a:rPr>
              <a:t>NETARCHAI  |  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700" b="1">
                <a:solidFill>
                  <a:srgbClr val="F5F9FC"/>
                </a:solidFill>
                <a:latin typeface="Arial"/>
              </a:rPr>
              <a:t>معمارية النظام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27080" y="384048"/>
            <a:ext cx="685800" cy="73152"/>
          </a:xfrm>
          <a:prstGeom prst="rect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94183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C8F8"/>
                </a:solidFill>
                <a:latin typeface="Arial"/>
              </a:rPr>
              <a:t>05 | تدفق البيانات بين الطبقات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1828800"/>
            <a:ext cx="2011680" cy="658368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1892807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5F9FC"/>
                </a:solidFill>
                <a:latin typeface="Arial"/>
              </a:rPr>
              <a:t>React UI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657600" y="1828800"/>
            <a:ext cx="2011680" cy="658368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00C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730752" y="1892807"/>
            <a:ext cx="18653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5F9FC"/>
                </a:solidFill>
                <a:latin typeface="Arial"/>
              </a:rPr>
              <a:t>Laravel 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1828800"/>
            <a:ext cx="2240280" cy="658368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702552" y="1892807"/>
            <a:ext cx="209397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9FC"/>
                </a:solidFill>
                <a:latin typeface="Arial"/>
              </a:rPr>
              <a:t>MySQL / Eloquent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92640" y="1828800"/>
            <a:ext cx="1600200" cy="658368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765792" y="1892807"/>
            <a:ext cx="145389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5F9FC"/>
                </a:solidFill>
                <a:latin typeface="Arial"/>
              </a:rPr>
              <a:t>Storage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697480" y="2157984"/>
            <a:ext cx="960120" cy="0"/>
          </a:xfrm>
          <a:prstGeom prst="line">
            <a:avLst/>
          </a:prstGeom>
          <a:ln w="19050">
            <a:solidFill>
              <a:srgbClr val="F5F9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669280" y="2157984"/>
            <a:ext cx="960120" cy="0"/>
          </a:xfrm>
          <a:prstGeom prst="line">
            <a:avLst/>
          </a:prstGeom>
          <a:ln w="19050">
            <a:solidFill>
              <a:srgbClr val="F5F9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869680" y="2157984"/>
            <a:ext cx="822960" cy="0"/>
          </a:xfrm>
          <a:prstGeom prst="line">
            <a:avLst/>
          </a:prstGeom>
          <a:ln w="19050">
            <a:solidFill>
              <a:srgbClr val="F5F9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828800" y="3886200"/>
            <a:ext cx="2148840" cy="658368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00C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901952" y="3950208"/>
            <a:ext cx="200253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5F9FC"/>
                </a:solidFill>
                <a:latin typeface="Arial"/>
              </a:rPr>
              <a:t>Flask /predict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983480" y="3886200"/>
            <a:ext cx="2148840" cy="658368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56632" y="3950208"/>
            <a:ext cx="200253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 err="1">
                <a:solidFill>
                  <a:srgbClr val="F5F9FC"/>
                </a:solidFill>
                <a:latin typeface="Arial"/>
              </a:rPr>
              <a:t>FastAPI</a:t>
            </a:r>
            <a:r>
              <a:rPr sz="1400" b="1" dirty="0">
                <a:solidFill>
                  <a:srgbClr val="F5F9FC"/>
                </a:solidFill>
                <a:latin typeface="Arial"/>
              </a:rPr>
              <a:t> /wired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38160" y="3886200"/>
            <a:ext cx="2148840" cy="658368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11312" y="3950208"/>
            <a:ext cx="2002536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9FC"/>
                </a:solidFill>
                <a:latin typeface="Arial"/>
              </a:rPr>
              <a:t>AI Models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2880360" y="2487168"/>
            <a:ext cx="1783080" cy="1399032"/>
          </a:xfrm>
          <a:prstGeom prst="line">
            <a:avLst/>
          </a:prstGeom>
          <a:ln w="19050">
            <a:solidFill>
              <a:srgbClr val="00C8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663440" y="2487168"/>
            <a:ext cx="1389888" cy="1399032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132320" y="4215384"/>
            <a:ext cx="1005840" cy="0"/>
          </a:xfrm>
          <a:prstGeom prst="line">
            <a:avLst/>
          </a:prstGeom>
          <a:ln w="19050">
            <a:solidFill>
              <a:srgbClr val="FF6B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A6B9CC"/>
                </a:solidFill>
                <a:latin typeface="Arial"/>
              </a:rPr>
              <a:t>NETARCHAI  |  08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700" b="1">
                <a:solidFill>
                  <a:srgbClr val="F5F9FC"/>
                </a:solidFill>
                <a:latin typeface="Arial"/>
              </a:rPr>
              <a:t>قاعدة البيانات: Class Diagram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27080" y="384048"/>
            <a:ext cx="685800" cy="73152"/>
          </a:xfrm>
          <a:prstGeom prst="rect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94183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C8F8"/>
                </a:solidFill>
                <a:latin typeface="Arial"/>
              </a:rPr>
              <a:t>06 | الجداول والعلاقات الأساسية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1508760"/>
            <a:ext cx="1645920" cy="68580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00C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3231" y="1572768"/>
            <a:ext cx="1499616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5F9FC"/>
                </a:solidFill>
                <a:latin typeface="Arial"/>
              </a:rPr>
              <a:t>User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71800" y="1508760"/>
            <a:ext cx="1737360" cy="68580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034995" y="1559052"/>
            <a:ext cx="1591056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5F9FC"/>
                </a:solidFill>
                <a:latin typeface="Arial"/>
              </a:rPr>
              <a:t>Project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1508760"/>
            <a:ext cx="1645920" cy="68580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59552" y="1572768"/>
            <a:ext cx="1499616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5F9FC"/>
                </a:solidFill>
                <a:latin typeface="Arial"/>
              </a:rPr>
              <a:t>Room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1508760"/>
            <a:ext cx="1737360" cy="68580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00C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28431" y="1572768"/>
            <a:ext cx="1591056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9FC"/>
                </a:solidFill>
                <a:latin typeface="Arial"/>
              </a:rPr>
              <a:t>Device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195560" y="1508760"/>
            <a:ext cx="1508760" cy="68580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68712" y="1572768"/>
            <a:ext cx="1362456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9FC"/>
                </a:solidFill>
                <a:latin typeface="Arial"/>
              </a:rPr>
              <a:t>Connection</a:t>
            </a:r>
          </a:p>
        </p:txBody>
      </p:sp>
      <p:cxnSp>
        <p:nvCxnSpPr>
          <p:cNvPr id="29" name="Connector 28"/>
          <p:cNvCxnSpPr>
            <a:cxnSpLocks/>
          </p:cNvCxnSpPr>
          <p:nvPr/>
        </p:nvCxnSpPr>
        <p:spPr>
          <a:xfrm>
            <a:off x="2286000" y="1816608"/>
            <a:ext cx="685800" cy="0"/>
          </a:xfrm>
          <a:prstGeom prst="line">
            <a:avLst/>
          </a:prstGeom>
          <a:ln w="19050">
            <a:solidFill>
              <a:srgbClr val="F5F9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709160" y="1847088"/>
            <a:ext cx="777240" cy="0"/>
          </a:xfrm>
          <a:prstGeom prst="line">
            <a:avLst/>
          </a:prstGeom>
          <a:ln w="19050">
            <a:solidFill>
              <a:srgbClr val="F5F9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132320" y="1847088"/>
            <a:ext cx="822959" cy="0"/>
          </a:xfrm>
          <a:prstGeom prst="line">
            <a:avLst/>
          </a:prstGeom>
          <a:ln w="19050">
            <a:solidFill>
              <a:srgbClr val="F5F9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692640" y="1847088"/>
            <a:ext cx="502920" cy="0"/>
          </a:xfrm>
          <a:prstGeom prst="line">
            <a:avLst/>
          </a:prstGeom>
          <a:ln w="19050">
            <a:solidFill>
              <a:srgbClr val="F5F9F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395728" y="155448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6B9CC"/>
                </a:solidFill>
                <a:latin typeface="Arial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83480" y="155448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6B9CC"/>
                </a:solidFill>
                <a:latin typeface="Arial"/>
              </a:rPr>
              <a:t>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155448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A6B9CC"/>
                </a:solidFill>
                <a:latin typeface="Arial"/>
              </a:rPr>
              <a:t>*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977639" y="3794760"/>
            <a:ext cx="2011680" cy="68580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050791" y="3858768"/>
            <a:ext cx="1865376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9FC"/>
                </a:solidFill>
                <a:latin typeface="Arial"/>
              </a:rPr>
              <a:t>RoomCorner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4983480" y="2194560"/>
            <a:ext cx="1143000" cy="1600200"/>
          </a:xfrm>
          <a:prstGeom prst="line">
            <a:avLst/>
          </a:prstGeom>
          <a:ln w="19050">
            <a:solidFill>
              <a:srgbClr val="10B9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731520" y="507492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F5F9FC"/>
                </a:solidFill>
                <a:latin typeface="Arial"/>
              </a:rPr>
              <a:t>User 1..* Projects | Project 1..* Rooms / Devices / Connections | Room 1..* RoomCorners وDevices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dirty="0">
                <a:solidFill>
                  <a:srgbClr val="A6B9CC"/>
                </a:solidFill>
                <a:latin typeface="Arial"/>
              </a:rPr>
              <a:t>NETARCHAI  |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700" b="1">
                <a:solidFill>
                  <a:srgbClr val="F5F9FC"/>
                </a:solidFill>
                <a:latin typeface="Arial"/>
              </a:rPr>
              <a:t>تفصيل الجداول والعلاقات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27080" y="384048"/>
            <a:ext cx="685800" cy="73152"/>
          </a:xfrm>
          <a:prstGeom prst="rect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94183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C8F8"/>
                </a:solidFill>
                <a:latin typeface="Arial"/>
              </a:rPr>
              <a:t>06 | نموذج البيانات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1280160"/>
            <a:ext cx="2057400" cy="530352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00C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1408176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C8F8"/>
                </a:solidFill>
                <a:latin typeface="Arial"/>
              </a:rPr>
              <a:t>users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1389888"/>
            <a:ext cx="374903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dirty="0" err="1">
                <a:solidFill>
                  <a:srgbClr val="F5F9FC"/>
                </a:solidFill>
                <a:latin typeface="Arial"/>
              </a:rPr>
              <a:t>المستخدمون</a:t>
            </a:r>
            <a:r>
              <a:rPr sz="14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5F9FC"/>
                </a:solidFill>
                <a:latin typeface="Arial"/>
              </a:rPr>
              <a:t>والأدوار</a:t>
            </a:r>
            <a:r>
              <a:rPr sz="14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5F9FC"/>
                </a:solidFill>
                <a:latin typeface="Arial"/>
              </a:rPr>
              <a:t>والاشتراك</a:t>
            </a:r>
            <a:endParaRPr sz="1400" b="0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03720" y="138988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A6B9CC"/>
                </a:solidFill>
                <a:latin typeface="Arial"/>
              </a:rPr>
              <a:t>hasMany Project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1993391"/>
            <a:ext cx="2057400" cy="530352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2121408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C8F8"/>
                </a:solidFill>
                <a:latin typeface="Arial"/>
              </a:rPr>
              <a:t>projects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2103120"/>
            <a:ext cx="374903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dirty="0" err="1">
                <a:solidFill>
                  <a:srgbClr val="F5F9FC"/>
                </a:solidFill>
                <a:latin typeface="Arial"/>
              </a:rPr>
              <a:t>بيانات</a:t>
            </a:r>
            <a:r>
              <a:rPr sz="14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5F9FC"/>
                </a:solidFill>
                <a:latin typeface="Arial"/>
              </a:rPr>
              <a:t>المخطط</a:t>
            </a:r>
            <a:r>
              <a:rPr sz="14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5F9FC"/>
                </a:solidFill>
                <a:latin typeface="Arial"/>
              </a:rPr>
              <a:t>وحالة</a:t>
            </a:r>
            <a:r>
              <a:rPr sz="14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5F9FC"/>
                </a:solidFill>
                <a:latin typeface="Arial"/>
              </a:rPr>
              <a:t>التحليل</a:t>
            </a:r>
            <a:endParaRPr sz="1400" b="0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903720" y="21031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A6B9CC"/>
                </a:solidFill>
                <a:latin typeface="Arial"/>
              </a:rPr>
              <a:t>belongsTo User; hasMany Room/Device/Connection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2706624"/>
            <a:ext cx="2057400" cy="530352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00C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7240" y="2834640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C8F8"/>
                </a:solidFill>
                <a:latin typeface="Arial"/>
              </a:rPr>
              <a:t>rooms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71800" y="2804777"/>
            <a:ext cx="374903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dirty="0" err="1">
                <a:solidFill>
                  <a:srgbClr val="F5F9FC"/>
                </a:solidFill>
                <a:latin typeface="Arial"/>
              </a:rPr>
              <a:t>المركز</a:t>
            </a:r>
            <a:r>
              <a:rPr sz="1400" b="0" dirty="0">
                <a:solidFill>
                  <a:srgbClr val="F5F9FC"/>
                </a:solidFill>
                <a:latin typeface="Arial"/>
              </a:rPr>
              <a:t>، </a:t>
            </a:r>
            <a:r>
              <a:rPr sz="1400" b="0" dirty="0" err="1">
                <a:solidFill>
                  <a:srgbClr val="F5F9FC"/>
                </a:solidFill>
                <a:latin typeface="Arial"/>
              </a:rPr>
              <a:t>المساحة</a:t>
            </a:r>
            <a:r>
              <a:rPr sz="1400" b="0" dirty="0">
                <a:solidFill>
                  <a:srgbClr val="F5F9FC"/>
                </a:solidFill>
                <a:latin typeface="Arial"/>
              </a:rPr>
              <a:t>، </a:t>
            </a:r>
            <a:r>
              <a:rPr sz="1400" b="0" dirty="0" err="1">
                <a:solidFill>
                  <a:srgbClr val="F5F9FC"/>
                </a:solidFill>
                <a:latin typeface="Arial"/>
              </a:rPr>
              <a:t>النوع</a:t>
            </a:r>
            <a:endParaRPr sz="1400" b="0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03720" y="2816352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A6B9CC"/>
                </a:solidFill>
                <a:latin typeface="Arial"/>
              </a:rPr>
              <a:t>belongsTo Project; hasMany Corner/Device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419856"/>
            <a:ext cx="2057400" cy="530352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3547872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C8F8"/>
                </a:solidFill>
                <a:latin typeface="Arial"/>
              </a:rPr>
              <a:t>room_corners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3529584"/>
            <a:ext cx="3749039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 dirty="0" err="1">
                <a:solidFill>
                  <a:srgbClr val="F5F9FC"/>
                </a:solidFill>
                <a:latin typeface="Arial"/>
              </a:rPr>
              <a:t>نقاط</a:t>
            </a:r>
            <a:r>
              <a:rPr sz="14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5F9FC"/>
                </a:solidFill>
                <a:latin typeface="Arial"/>
              </a:rPr>
              <a:t>حدود</a:t>
            </a:r>
            <a:r>
              <a:rPr sz="14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5F9FC"/>
                </a:solidFill>
                <a:latin typeface="Arial"/>
              </a:rPr>
              <a:t>الغرفة</a:t>
            </a:r>
            <a:r>
              <a:rPr sz="14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5F9FC"/>
                </a:solidFill>
                <a:latin typeface="Arial"/>
              </a:rPr>
              <a:t>وترتيبها</a:t>
            </a:r>
            <a:endParaRPr sz="1400" b="0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903720" y="3529584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A6B9CC"/>
                </a:solidFill>
                <a:latin typeface="Arial"/>
              </a:rPr>
              <a:t>belongsTo Room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133087"/>
            <a:ext cx="2057400" cy="530352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00C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" y="4261103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C8F8"/>
                </a:solidFill>
                <a:latin typeface="Arial"/>
              </a:rPr>
              <a:t>devices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71800" y="4242816"/>
            <a:ext cx="374903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 dirty="0" err="1">
                <a:solidFill>
                  <a:srgbClr val="F5F9FC"/>
                </a:solidFill>
                <a:latin typeface="Arial"/>
              </a:rPr>
              <a:t>نوع</a:t>
            </a:r>
            <a:r>
              <a:rPr sz="14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400" b="0" dirty="0" err="1">
                <a:solidFill>
                  <a:srgbClr val="F5F9FC"/>
                </a:solidFill>
                <a:latin typeface="Arial"/>
              </a:rPr>
              <a:t>الجهاز</a:t>
            </a:r>
            <a:r>
              <a:rPr sz="1400" b="0" dirty="0">
                <a:solidFill>
                  <a:srgbClr val="F5F9FC"/>
                </a:solidFill>
                <a:latin typeface="Arial"/>
              </a:rPr>
              <a:t>، </a:t>
            </a:r>
            <a:r>
              <a:rPr sz="1400" b="0" dirty="0" err="1">
                <a:solidFill>
                  <a:srgbClr val="F5F9FC"/>
                </a:solidFill>
                <a:latin typeface="Arial"/>
              </a:rPr>
              <a:t>المنافذ</a:t>
            </a:r>
            <a:r>
              <a:rPr sz="1400" b="0" dirty="0">
                <a:solidFill>
                  <a:srgbClr val="F5F9FC"/>
                </a:solidFill>
                <a:latin typeface="Arial"/>
              </a:rPr>
              <a:t>، </a:t>
            </a:r>
            <a:r>
              <a:rPr sz="1400" b="0" dirty="0" err="1">
                <a:solidFill>
                  <a:srgbClr val="F5F9FC"/>
                </a:solidFill>
                <a:latin typeface="Arial"/>
              </a:rPr>
              <a:t>الموقع</a:t>
            </a:r>
            <a:endParaRPr sz="1400" b="0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903720" y="4242816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A6B9CC"/>
                </a:solidFill>
                <a:latin typeface="Arial"/>
              </a:rPr>
              <a:t>belongsTo Project وRoom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" y="4846320"/>
            <a:ext cx="2057400" cy="530352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77240" y="4974336"/>
            <a:ext cx="17830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00C8F8"/>
                </a:solidFill>
                <a:latin typeface="Arial"/>
              </a:rPr>
              <a:t>connections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71800" y="4956048"/>
            <a:ext cx="3749039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1400" b="0" dirty="0" err="1">
                <a:solidFill>
                  <a:srgbClr val="F5F9FC"/>
                </a:solidFill>
                <a:latin typeface="Arial"/>
              </a:rPr>
              <a:t>الرابط</a:t>
            </a:r>
            <a:r>
              <a:rPr sz="1400" b="0" dirty="0">
                <a:solidFill>
                  <a:srgbClr val="F5F9FC"/>
                </a:solidFill>
                <a:latin typeface="Arial"/>
              </a:rPr>
              <a:t>،</a:t>
            </a:r>
            <a:r>
              <a:rPr lang="ar-SY" sz="1400" b="0" dirty="0">
                <a:solidFill>
                  <a:srgbClr val="F5F9FC"/>
                </a:solidFill>
                <a:latin typeface="Arial"/>
              </a:rPr>
              <a:t> بين جهازين </a:t>
            </a:r>
            <a:r>
              <a:rPr sz="1400" b="0" dirty="0">
                <a:solidFill>
                  <a:srgbClr val="F5F9FC"/>
                </a:solidFill>
                <a:latin typeface="Arial"/>
              </a:rPr>
              <a:t>، </a:t>
            </a:r>
            <a:r>
              <a:rPr sz="1400" b="0" dirty="0" err="1">
                <a:solidFill>
                  <a:srgbClr val="F5F9FC"/>
                </a:solidFill>
                <a:latin typeface="Arial"/>
              </a:rPr>
              <a:t>المسافة</a:t>
            </a:r>
            <a:endParaRPr sz="1400" b="0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903720" y="4956048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400" b="0">
                <a:solidFill>
                  <a:srgbClr val="A6B9CC"/>
                </a:solidFill>
                <a:latin typeface="Arial"/>
              </a:rPr>
              <a:t>يربط جهازين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A6B9CC"/>
                </a:solidFill>
                <a:latin typeface="Arial"/>
              </a:rPr>
              <a:t>NETARCHAI  |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700" b="1">
                <a:solidFill>
                  <a:srgbClr val="F5F9FC"/>
                </a:solidFill>
                <a:latin typeface="Arial"/>
              </a:rPr>
              <a:t>رحلة المستخدم داخل النظام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27080" y="384048"/>
            <a:ext cx="685800" cy="73152"/>
          </a:xfrm>
          <a:prstGeom prst="rect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94183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C8F8"/>
                </a:solidFill>
                <a:latin typeface="Arial"/>
              </a:rPr>
              <a:t>05 | User flow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1508760"/>
            <a:ext cx="2240280" cy="68580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00C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76072" y="1572768"/>
            <a:ext cx="2093976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9FC"/>
                </a:solidFill>
                <a:latin typeface="Arial"/>
              </a:rPr>
              <a:t>1. تسجيل الدخول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2743200" y="1856231"/>
            <a:ext cx="0" cy="0"/>
          </a:xfrm>
          <a:prstGeom prst="line">
            <a:avLst/>
          </a:prstGeom>
          <a:ln w="19050">
            <a:solidFill>
              <a:srgbClr val="A6B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383280" y="1508760"/>
            <a:ext cx="2240280" cy="68580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456432" y="1572768"/>
            <a:ext cx="2093976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9FC"/>
                </a:solidFill>
                <a:latin typeface="Arial"/>
              </a:rPr>
              <a:t>2. إنشاء مشروع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623560" y="1856231"/>
            <a:ext cx="0" cy="0"/>
          </a:xfrm>
          <a:prstGeom prst="line">
            <a:avLst/>
          </a:prstGeom>
          <a:ln w="19050">
            <a:solidFill>
              <a:srgbClr val="A6B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63640" y="1508760"/>
            <a:ext cx="2240280" cy="68580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336792" y="1572768"/>
            <a:ext cx="2093976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9FC"/>
                </a:solidFill>
                <a:latin typeface="Arial"/>
              </a:rPr>
              <a:t>3. رفع المخطط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503920" y="1856231"/>
            <a:ext cx="0" cy="0"/>
          </a:xfrm>
          <a:prstGeom prst="line">
            <a:avLst/>
          </a:prstGeom>
          <a:ln w="19050">
            <a:solidFill>
              <a:srgbClr val="A6B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144000" y="1508760"/>
            <a:ext cx="2240280" cy="68580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00C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217152" y="1699221"/>
            <a:ext cx="2093976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F5F9FC"/>
                </a:solidFill>
                <a:latin typeface="Arial"/>
              </a:rPr>
              <a:t>4</a:t>
            </a:r>
            <a:r>
              <a:rPr lang="en-US" sz="1500" b="1" dirty="0">
                <a:solidFill>
                  <a:srgbClr val="F5F9FC"/>
                </a:solidFill>
                <a:latin typeface="Arial"/>
              </a:rPr>
              <a:t>. AI</a:t>
            </a:r>
            <a:r>
              <a:rPr sz="1500" b="1" dirty="0">
                <a:solidFill>
                  <a:srgbClr val="F5F9FC"/>
                </a:solidFill>
                <a:latin typeface="Arial"/>
              </a:rPr>
              <a:t> </a:t>
            </a:r>
            <a:r>
              <a:rPr lang="ar-SY" sz="1500" b="1" dirty="0">
                <a:solidFill>
                  <a:srgbClr val="F5F9FC"/>
                </a:solidFill>
                <a:latin typeface="Arial"/>
              </a:rPr>
              <a:t>تحليل </a:t>
            </a:r>
            <a:endParaRPr sz="1500" b="1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02920" y="3337560"/>
            <a:ext cx="2240280" cy="68580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00C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6072" y="3401568"/>
            <a:ext cx="2093976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9FC"/>
                </a:solidFill>
                <a:latin typeface="Arial"/>
              </a:rPr>
              <a:t>5. مراجعة الغرف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743200" y="3685032"/>
            <a:ext cx="0" cy="0"/>
          </a:xfrm>
          <a:prstGeom prst="line">
            <a:avLst/>
          </a:prstGeom>
          <a:ln w="19050">
            <a:solidFill>
              <a:srgbClr val="A6B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3383280" y="3337560"/>
            <a:ext cx="2240280" cy="68580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456432" y="3528021"/>
            <a:ext cx="2093976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F5F9FC"/>
                </a:solidFill>
                <a:latin typeface="Arial"/>
              </a:rPr>
              <a:t>6. </a:t>
            </a:r>
            <a:r>
              <a:rPr lang="ar-SY" sz="1500" b="1" dirty="0">
                <a:solidFill>
                  <a:srgbClr val="F5F9FC"/>
                </a:solidFill>
                <a:latin typeface="Arial"/>
              </a:rPr>
              <a:t>حساب </a:t>
            </a:r>
            <a:r>
              <a:rPr sz="1500" b="1" dirty="0" err="1">
                <a:solidFill>
                  <a:srgbClr val="F5F9FC"/>
                </a:solidFill>
                <a:latin typeface="Arial"/>
              </a:rPr>
              <a:t>تحسين</a:t>
            </a:r>
            <a:r>
              <a:rPr sz="15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F5F9FC"/>
                </a:solidFill>
                <a:latin typeface="Arial"/>
              </a:rPr>
              <a:t>الشبكة</a:t>
            </a:r>
            <a:endParaRPr sz="1500" b="1" dirty="0">
              <a:solidFill>
                <a:srgbClr val="F5F9FC"/>
              </a:solidFill>
              <a:latin typeface="Arial"/>
            </a:endParaRPr>
          </a:p>
        </p:txBody>
      </p:sp>
      <p:cxnSp>
        <p:nvCxnSpPr>
          <p:cNvPr id="35" name="Connector 34"/>
          <p:cNvCxnSpPr/>
          <p:nvPr/>
        </p:nvCxnSpPr>
        <p:spPr>
          <a:xfrm>
            <a:off x="5623560" y="3685032"/>
            <a:ext cx="0" cy="0"/>
          </a:xfrm>
          <a:prstGeom prst="line">
            <a:avLst/>
          </a:prstGeom>
          <a:ln w="19050">
            <a:solidFill>
              <a:srgbClr val="A6B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263640" y="3337560"/>
            <a:ext cx="2240280" cy="68580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36792" y="3401568"/>
            <a:ext cx="2093976" cy="5760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9FC"/>
                </a:solidFill>
                <a:latin typeface="Arial"/>
              </a:rPr>
              <a:t>7. تعديل وحفظ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503920" y="3685032"/>
            <a:ext cx="0" cy="0"/>
          </a:xfrm>
          <a:prstGeom prst="line">
            <a:avLst/>
          </a:prstGeom>
          <a:ln w="19050">
            <a:solidFill>
              <a:srgbClr val="A6B9C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144000" y="3337560"/>
            <a:ext cx="2240280" cy="68580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00C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05577" y="3528021"/>
            <a:ext cx="2093976" cy="3231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dirty="0">
                <a:solidFill>
                  <a:srgbClr val="F5F9FC"/>
                </a:solidFill>
                <a:latin typeface="Arial"/>
              </a:rPr>
              <a:t>8.</a:t>
            </a:r>
            <a:r>
              <a:rPr lang="en-US" sz="1500" b="1" dirty="0">
                <a:solidFill>
                  <a:srgbClr val="F5F9FC"/>
                </a:solidFill>
                <a:latin typeface="Arial"/>
              </a:rPr>
              <a:t> PDF</a:t>
            </a:r>
            <a:r>
              <a:rPr sz="15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1500" b="1" dirty="0" err="1">
                <a:solidFill>
                  <a:srgbClr val="F5F9FC"/>
                </a:solidFill>
                <a:latin typeface="Arial"/>
              </a:rPr>
              <a:t>تصدير</a:t>
            </a:r>
            <a:endParaRPr sz="1500" b="1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A6B9CC"/>
                </a:solidFill>
                <a:latin typeface="Arial"/>
              </a:rPr>
              <a:t>NETARCHAI  |  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700" b="1">
                <a:solidFill>
                  <a:srgbClr val="F5F9FC"/>
                </a:solidFill>
                <a:latin typeface="Arial"/>
              </a:rPr>
              <a:t>واجهات المستخدم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27080" y="384048"/>
            <a:ext cx="685800" cy="73152"/>
          </a:xfrm>
          <a:prstGeom prst="rect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94183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C8F8"/>
                </a:solidFill>
                <a:latin typeface="Arial"/>
              </a:rPr>
              <a:t>07 | تجربة المصمم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1463040"/>
            <a:ext cx="2057400" cy="361188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58952" y="1527048"/>
            <a:ext cx="1911095" cy="3502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5F9FC"/>
                </a:solidFill>
                <a:latin typeface="Arial"/>
              </a:rPr>
              <a:t>Sidebar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093865"/>
            <a:ext cx="1691640" cy="14003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0" dirty="0" err="1">
                <a:solidFill>
                  <a:srgbClr val="F5F9FC"/>
                </a:solidFill>
                <a:latin typeface="Arial"/>
              </a:rPr>
              <a:t>رفع</a:t>
            </a:r>
            <a:r>
              <a:rPr sz="17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F5F9FC"/>
                </a:solidFill>
                <a:latin typeface="Arial"/>
              </a:rPr>
              <a:t>المخطط</a:t>
            </a:r>
            <a:r>
              <a:rPr sz="1700" b="0" dirty="0">
                <a:solidFill>
                  <a:srgbClr val="F5F9FC"/>
                </a:solidFill>
                <a:latin typeface="Arial"/>
              </a:rPr>
              <a:t>
</a:t>
            </a:r>
            <a:r>
              <a:rPr sz="1700" b="0" dirty="0" err="1">
                <a:solidFill>
                  <a:srgbClr val="F5F9FC"/>
                </a:solidFill>
                <a:latin typeface="Arial"/>
              </a:rPr>
              <a:t>بيانات</a:t>
            </a:r>
            <a:r>
              <a:rPr sz="17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F5F9FC"/>
                </a:solidFill>
                <a:latin typeface="Arial"/>
              </a:rPr>
              <a:t>المشروع</a:t>
            </a:r>
            <a:r>
              <a:rPr sz="1700" b="0" dirty="0">
                <a:solidFill>
                  <a:srgbClr val="F5F9FC"/>
                </a:solidFill>
                <a:latin typeface="Arial"/>
              </a:rPr>
              <a:t>
</a:t>
            </a:r>
            <a:r>
              <a:rPr sz="1700" b="0" dirty="0" err="1">
                <a:solidFill>
                  <a:srgbClr val="F5F9FC"/>
                </a:solidFill>
                <a:latin typeface="Arial"/>
              </a:rPr>
              <a:t>إجراءات</a:t>
            </a:r>
            <a:r>
              <a:rPr sz="17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700" b="0" dirty="0" err="1">
                <a:solidFill>
                  <a:srgbClr val="F5F9FC"/>
                </a:solidFill>
                <a:latin typeface="Arial"/>
              </a:rPr>
              <a:t>التحليل</a:t>
            </a:r>
            <a:r>
              <a:rPr sz="1700" b="0" dirty="0">
                <a:solidFill>
                  <a:srgbClr val="F5F9FC"/>
                </a:solidFill>
                <a:latin typeface="Arial"/>
              </a:rPr>
              <a:t>
</a:t>
            </a:r>
            <a:r>
              <a:rPr sz="1700" b="0" dirty="0" err="1">
                <a:solidFill>
                  <a:srgbClr val="F5F9FC"/>
                </a:solidFill>
                <a:latin typeface="Arial"/>
              </a:rPr>
              <a:t>الأجهزة</a:t>
            </a:r>
            <a:r>
              <a:rPr sz="1700" b="0" dirty="0">
                <a:solidFill>
                  <a:srgbClr val="F5F9FC"/>
                </a:solidFill>
                <a:latin typeface="Arial"/>
              </a:rPr>
              <a:t>
</a:t>
            </a:r>
            <a:endParaRPr lang="ar-SY" sz="1700" b="0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3063240" y="1463040"/>
            <a:ext cx="6492240" cy="3611880"/>
          </a:xfrm>
          <a:prstGeom prst="roundRect">
            <a:avLst/>
          </a:prstGeom>
          <a:solidFill>
            <a:srgbClr val="14273E"/>
          </a:solidFill>
          <a:ln w="12700">
            <a:solidFill>
              <a:srgbClr val="00C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46120" y="1664208"/>
            <a:ext cx="6126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00C8F8"/>
                </a:solidFill>
                <a:latin typeface="Arial"/>
              </a:rPr>
              <a:t>Canvas Area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2240280"/>
            <a:ext cx="5303520" cy="2057400"/>
          </a:xfrm>
          <a:prstGeom prst="roundRect">
            <a:avLst/>
          </a:prstGeom>
          <a:solidFill>
            <a:srgbClr val="1D364D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840480" y="2990088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5F9FC"/>
                </a:solidFill>
                <a:latin typeface="Arial"/>
              </a:rPr>
              <a:t>المخطط + الغرف + الأجهزة + الروابط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829800" y="1463040"/>
            <a:ext cx="1691640" cy="361188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902952" y="1527048"/>
            <a:ext cx="1545336" cy="35021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9FC"/>
                </a:solidFill>
                <a:latin typeface="Arial"/>
              </a:rPr>
              <a:t>Status Bar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0112" y="2125690"/>
            <a:ext cx="128016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dirty="0" err="1">
                <a:solidFill>
                  <a:srgbClr val="F5F9FC"/>
                </a:solidFill>
                <a:latin typeface="Arial"/>
              </a:rPr>
              <a:t>الغرف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
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الأجهزة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
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الروابط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
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حالة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المعالجة</a:t>
            </a:r>
            <a:endParaRPr sz="1600" b="0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A6B9CC"/>
                </a:solidFill>
                <a:latin typeface="Arial"/>
              </a:rPr>
              <a:t>NETARCHAI  |  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700" b="1">
                <a:solidFill>
                  <a:srgbClr val="F5F9FC"/>
                </a:solidFill>
                <a:latin typeface="Arial"/>
              </a:rPr>
              <a:t>واجهات الـ Dashboard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27080" y="384048"/>
            <a:ext cx="685800" cy="73152"/>
          </a:xfrm>
          <a:prstGeom prst="rect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94183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C8F8"/>
                </a:solidFill>
                <a:latin typeface="Arial"/>
              </a:rPr>
              <a:t>07 | المتابعة والإدارة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1417320"/>
            <a:ext cx="2423160" cy="123444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00C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164592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6B9CC"/>
                </a:solidFill>
                <a:latin typeface="Arial"/>
              </a:rPr>
              <a:t>المشاريع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2039112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C8F8"/>
                </a:solidFill>
                <a:latin typeface="Arial"/>
              </a:rPr>
              <a:t>Projects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1417320"/>
            <a:ext cx="2423160" cy="123444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703320" y="164592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6B9CC"/>
                </a:solidFill>
                <a:latin typeface="Arial"/>
              </a:rPr>
              <a:t>المستخدمون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2039112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F6B35"/>
                </a:solidFill>
                <a:latin typeface="Arial"/>
              </a:rPr>
              <a:t>Users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1417320"/>
            <a:ext cx="2423160" cy="123444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37960" y="164592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6B9CC"/>
                </a:solidFill>
                <a:latin typeface="Arial"/>
              </a:rPr>
              <a:t>الاشتراكات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039112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10B981"/>
                </a:solidFill>
                <a:latin typeface="Arial"/>
              </a:rPr>
              <a:t>Subscriptions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235440" y="1417320"/>
            <a:ext cx="2423160" cy="123444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00C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372600" y="1645920"/>
            <a:ext cx="21488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6B9CC"/>
                </a:solidFill>
                <a:latin typeface="Arial"/>
              </a:rPr>
              <a:t>النشاط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72600" y="2039112"/>
            <a:ext cx="2148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00C8F8"/>
                </a:solidFill>
                <a:latin typeface="Arial"/>
              </a:rPr>
              <a:t>Activity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31520" y="3063240"/>
            <a:ext cx="10881360" cy="233172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2846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05840" y="3337560"/>
            <a:ext cx="10241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5F9FC"/>
                </a:solidFill>
                <a:latin typeface="Arial"/>
              </a:rPr>
              <a:t>لوحة تحكم تشغيلية</a:t>
            </a:r>
          </a:p>
        </p:txBody>
      </p:sp>
      <p:sp>
        <p:nvSpPr>
          <p:cNvPr id="33" name="Oval 32"/>
          <p:cNvSpPr/>
          <p:nvPr/>
        </p:nvSpPr>
        <p:spPr>
          <a:xfrm>
            <a:off x="1325880" y="4014215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527048" y="3931920"/>
            <a:ext cx="9400032" cy="335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F5F9FC"/>
                </a:solidFill>
                <a:latin typeface="Arial"/>
              </a:rPr>
              <a:t>عرض إحصاءات النظام والمستخدمين والمشاريع.</a:t>
            </a:r>
          </a:p>
        </p:txBody>
      </p:sp>
      <p:sp>
        <p:nvSpPr>
          <p:cNvPr id="35" name="Oval 34"/>
          <p:cNvSpPr/>
          <p:nvPr/>
        </p:nvSpPr>
        <p:spPr>
          <a:xfrm>
            <a:off x="1325880" y="4395216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527048" y="4312920"/>
            <a:ext cx="9400032" cy="335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>
                <a:solidFill>
                  <a:srgbClr val="F5F9FC"/>
                </a:solidFill>
                <a:latin typeface="Arial"/>
              </a:rPr>
              <a:t>متابعة حالات المشاريع والتحليل.</a:t>
            </a:r>
          </a:p>
        </p:txBody>
      </p:sp>
      <p:sp>
        <p:nvSpPr>
          <p:cNvPr id="37" name="Oval 36"/>
          <p:cNvSpPr/>
          <p:nvPr/>
        </p:nvSpPr>
        <p:spPr>
          <a:xfrm>
            <a:off x="1325880" y="4776215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527048" y="4693920"/>
            <a:ext cx="9400032" cy="335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 dirty="0" err="1">
                <a:solidFill>
                  <a:srgbClr val="F5F9FC"/>
                </a:solidFill>
                <a:latin typeface="Arial"/>
              </a:rPr>
              <a:t>إدارة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المستخدمين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600" b="0" dirty="0" err="1">
                <a:solidFill>
                  <a:srgbClr val="F5F9FC"/>
                </a:solidFill>
                <a:latin typeface="Arial"/>
              </a:rPr>
              <a:t>والاشتراكات</a:t>
            </a:r>
            <a:r>
              <a:rPr sz="1600" b="0" dirty="0">
                <a:solidFill>
                  <a:srgbClr val="F5F9FC"/>
                </a:solidFill>
                <a:latin typeface="Arial"/>
              </a:rPr>
              <a:t> 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A6B9CC"/>
                </a:solidFill>
                <a:latin typeface="Arial"/>
              </a:rPr>
              <a:t>NETARCHAI  |  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700" b="1">
                <a:solidFill>
                  <a:srgbClr val="F5F9FC"/>
                </a:solidFill>
                <a:latin typeface="Arial"/>
              </a:rPr>
              <a:t>النتائج والإنجازات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27080" y="384048"/>
            <a:ext cx="685800" cy="73152"/>
          </a:xfrm>
          <a:prstGeom prst="rect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94183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C8F8"/>
                </a:solidFill>
                <a:latin typeface="Arial"/>
              </a:rPr>
              <a:t>08 | ما تم تحقيقه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1499616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" y="1417320"/>
            <a:ext cx="10405872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100" b="0">
                <a:solidFill>
                  <a:srgbClr val="F5F9FC"/>
                </a:solidFill>
                <a:latin typeface="Arial"/>
              </a:rPr>
              <a:t>بناء مسار كامل من صورة المخطط إلى تصميم شبكة قابل للتحرير.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2350008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24128" y="2267712"/>
            <a:ext cx="10405872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100" b="0">
                <a:solidFill>
                  <a:srgbClr val="F5F9FC"/>
                </a:solidFill>
                <a:latin typeface="Arial"/>
              </a:rPr>
              <a:t>دمج اكتشاف الغرف مع قياس المساحة والمراكز والزوايا.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3200400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" y="3118104"/>
            <a:ext cx="10405872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100" b="0" dirty="0" err="1">
                <a:solidFill>
                  <a:srgbClr val="F5F9FC"/>
                </a:solidFill>
                <a:latin typeface="Arial"/>
              </a:rPr>
              <a:t>توليد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أجهزة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الشبكة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والروابط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وفق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قواعد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وقيود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.</a:t>
            </a:r>
          </a:p>
        </p:txBody>
      </p:sp>
      <p:sp>
        <p:nvSpPr>
          <p:cNvPr id="25" name="Oval 24"/>
          <p:cNvSpPr/>
          <p:nvPr/>
        </p:nvSpPr>
        <p:spPr>
          <a:xfrm>
            <a:off x="822960" y="4050791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24128" y="3968496"/>
            <a:ext cx="10405872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100" b="0">
                <a:solidFill>
                  <a:srgbClr val="F5F9FC"/>
                </a:solidFill>
                <a:latin typeface="Arial"/>
              </a:rPr>
              <a:t>توفير واجهة تفاعلية للمراجعة والتعديل بدل الاعتماد على ناتج آلي مغلق.</a:t>
            </a:r>
          </a:p>
        </p:txBody>
      </p:sp>
      <p:sp>
        <p:nvSpPr>
          <p:cNvPr id="27" name="Oval 26"/>
          <p:cNvSpPr/>
          <p:nvPr/>
        </p:nvSpPr>
        <p:spPr>
          <a:xfrm>
            <a:off x="822960" y="4901184"/>
            <a:ext cx="91440" cy="914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4128" y="4818888"/>
            <a:ext cx="10405872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100" b="0" dirty="0" err="1">
                <a:solidFill>
                  <a:srgbClr val="F5F9FC"/>
                </a:solidFill>
                <a:latin typeface="Arial"/>
              </a:rPr>
              <a:t>حفظ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بنية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المشروع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ونتيجة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الشبكة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وإتاحة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تصدير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تقرير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PDF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A6B9CC"/>
                </a:solidFill>
                <a:latin typeface="Arial"/>
              </a:rPr>
              <a:t>NETARCHAI  |  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481767" y="79511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109728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700" b="1" dirty="0" err="1">
                <a:solidFill>
                  <a:srgbClr val="F5F9FC"/>
                </a:solidFill>
                <a:latin typeface="Arial"/>
              </a:rPr>
              <a:t>التحديات</a:t>
            </a:r>
            <a:r>
              <a:rPr sz="27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700" b="1" dirty="0" err="1">
                <a:solidFill>
                  <a:srgbClr val="F5F9FC"/>
                </a:solidFill>
                <a:latin typeface="Arial"/>
              </a:rPr>
              <a:t>والحلول</a:t>
            </a:r>
            <a:endParaRPr sz="2700" b="1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0927080" y="384048"/>
            <a:ext cx="685800" cy="73152"/>
          </a:xfrm>
          <a:prstGeom prst="rect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94183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C8F8"/>
                </a:solidFill>
                <a:latin typeface="Arial"/>
              </a:rPr>
              <a:t>09 | نقاط التحسين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1318043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ar-SY" sz="1800" b="1" dirty="0">
                <a:solidFill>
                  <a:srgbClr val="FF6B35"/>
                </a:solidFill>
                <a:latin typeface="Arial"/>
              </a:rPr>
              <a:t>تعدد الخدمات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1280160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b="0" dirty="0" err="1">
                <a:solidFill>
                  <a:srgbClr val="F5F9FC"/>
                </a:solidFill>
                <a:latin typeface="Arial"/>
              </a:rPr>
              <a:t>توثيق</a:t>
            </a:r>
            <a:r>
              <a:rPr b="0" dirty="0">
                <a:solidFill>
                  <a:srgbClr val="F5F9FC"/>
                </a:solidFill>
                <a:latin typeface="Arial"/>
              </a:rPr>
              <a:t> </a:t>
            </a:r>
            <a:r>
              <a:rPr b="0" dirty="0" err="1">
                <a:solidFill>
                  <a:srgbClr val="F5F9FC"/>
                </a:solidFill>
                <a:latin typeface="Arial"/>
              </a:rPr>
              <a:t>أوامر</a:t>
            </a:r>
            <a:r>
              <a:rPr b="0" dirty="0">
                <a:solidFill>
                  <a:srgbClr val="F5F9FC"/>
                </a:solidFill>
                <a:latin typeface="Arial"/>
              </a:rPr>
              <a:t> </a:t>
            </a:r>
            <a:r>
              <a:rPr b="0" dirty="0" err="1">
                <a:solidFill>
                  <a:srgbClr val="F5F9FC"/>
                </a:solidFill>
                <a:latin typeface="Arial"/>
              </a:rPr>
              <a:t>التشغيل</a:t>
            </a:r>
            <a:r>
              <a:rPr b="0" dirty="0">
                <a:solidFill>
                  <a:srgbClr val="F5F9FC"/>
                </a:solidFill>
                <a:latin typeface="Arial"/>
              </a:rPr>
              <a:t> </a:t>
            </a:r>
            <a:r>
              <a:rPr b="0" dirty="0" err="1">
                <a:solidFill>
                  <a:srgbClr val="F5F9FC"/>
                </a:solidFill>
                <a:latin typeface="Arial"/>
              </a:rPr>
              <a:t>وإدارة</a:t>
            </a:r>
            <a:r>
              <a:rPr b="0" dirty="0">
                <a:solidFill>
                  <a:srgbClr val="F5F9FC"/>
                </a:solidFill>
                <a:latin typeface="Arial"/>
              </a:rPr>
              <a:t> </a:t>
            </a:r>
            <a:r>
              <a:rPr b="0" dirty="0" err="1">
                <a:solidFill>
                  <a:srgbClr val="F5F9FC"/>
                </a:solidFill>
                <a:latin typeface="Arial"/>
              </a:rPr>
              <a:t>متغيرات</a:t>
            </a:r>
            <a:r>
              <a:rPr b="0" dirty="0">
                <a:solidFill>
                  <a:srgbClr val="F5F9FC"/>
                </a:solidFill>
                <a:latin typeface="Arial"/>
              </a:rPr>
              <a:t> </a:t>
            </a:r>
            <a:r>
              <a:rPr b="0" dirty="0" err="1">
                <a:solidFill>
                  <a:srgbClr val="F5F9FC"/>
                </a:solidFill>
                <a:latin typeface="Arial"/>
              </a:rPr>
              <a:t>البيئة</a:t>
            </a:r>
            <a:r>
              <a:rPr b="0" dirty="0">
                <a:solidFill>
                  <a:srgbClr val="F5F9FC"/>
                </a:solidFill>
                <a:latin typeface="Arial"/>
              </a:rPr>
              <a:t> </a:t>
            </a:r>
            <a:r>
              <a:rPr b="0" dirty="0" err="1">
                <a:solidFill>
                  <a:srgbClr val="F5F9FC"/>
                </a:solidFill>
                <a:latin typeface="Arial"/>
              </a:rPr>
              <a:t>والمنافذ</a:t>
            </a:r>
            <a:r>
              <a:rPr b="0" dirty="0">
                <a:solidFill>
                  <a:srgbClr val="F5F9FC"/>
                </a:solidFill>
                <a:latin typeface="Arial"/>
              </a:rPr>
              <a:t>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1901952"/>
            <a:ext cx="10378440" cy="13716"/>
          </a:xfrm>
          <a:prstGeom prst="rect">
            <a:avLst/>
          </a:prstGeom>
          <a:solidFill>
            <a:srgbClr val="28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14400" y="212140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ar-SY" sz="1800" b="1" dirty="0">
                <a:solidFill>
                  <a:srgbClr val="FF6B35"/>
                </a:solidFill>
                <a:latin typeface="Arial"/>
              </a:rPr>
              <a:t>اختلاف صيغ البيانات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20440" y="2121408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b="0" dirty="0" err="1">
                <a:solidFill>
                  <a:srgbClr val="F5F9FC"/>
                </a:solidFill>
                <a:latin typeface="Arial"/>
              </a:rPr>
              <a:t>توحيد</a:t>
            </a:r>
            <a:r>
              <a:rPr b="0" dirty="0">
                <a:solidFill>
                  <a:srgbClr val="F5F9FC"/>
                </a:solidFill>
                <a:latin typeface="Arial"/>
              </a:rPr>
              <a:t> </a:t>
            </a:r>
            <a:r>
              <a:rPr b="0" dirty="0" err="1">
                <a:solidFill>
                  <a:srgbClr val="F5F9FC"/>
                </a:solidFill>
                <a:latin typeface="Arial"/>
              </a:rPr>
              <a:t>أسماء</a:t>
            </a:r>
            <a:r>
              <a:rPr b="0" dirty="0">
                <a:solidFill>
                  <a:srgbClr val="F5F9FC"/>
                </a:solidFill>
                <a:latin typeface="Arial"/>
              </a:rPr>
              <a:t> </a:t>
            </a:r>
            <a:r>
              <a:rPr b="0" dirty="0" err="1">
                <a:solidFill>
                  <a:srgbClr val="F5F9FC"/>
                </a:solidFill>
                <a:latin typeface="Arial"/>
              </a:rPr>
              <a:t>الحقول</a:t>
            </a:r>
            <a:r>
              <a:rPr b="0" dirty="0">
                <a:solidFill>
                  <a:srgbClr val="F5F9FC"/>
                </a:solidFill>
                <a:latin typeface="Arial"/>
              </a:rPr>
              <a:t> </a:t>
            </a:r>
            <a:r>
              <a:rPr b="0" dirty="0" err="1">
                <a:solidFill>
                  <a:srgbClr val="F5F9FC"/>
                </a:solidFill>
                <a:latin typeface="Arial"/>
              </a:rPr>
              <a:t>وأنواع</a:t>
            </a:r>
            <a:r>
              <a:rPr b="0" dirty="0">
                <a:solidFill>
                  <a:srgbClr val="F5F9FC"/>
                </a:solidFill>
                <a:latin typeface="Arial"/>
              </a:rPr>
              <a:t> </a:t>
            </a:r>
            <a:r>
              <a:rPr b="0" dirty="0" err="1">
                <a:solidFill>
                  <a:srgbClr val="F5F9FC"/>
                </a:solidFill>
                <a:latin typeface="Arial"/>
              </a:rPr>
              <a:t>الغرف</a:t>
            </a:r>
            <a:r>
              <a:rPr b="0" dirty="0">
                <a:solidFill>
                  <a:srgbClr val="F5F9FC"/>
                </a:solidFill>
                <a:latin typeface="Arial"/>
              </a:rPr>
              <a:t> </a:t>
            </a:r>
            <a:r>
              <a:rPr b="0" dirty="0" err="1">
                <a:solidFill>
                  <a:srgbClr val="F5F9FC"/>
                </a:solidFill>
                <a:latin typeface="Arial"/>
              </a:rPr>
              <a:t>بعقد</a:t>
            </a:r>
            <a:r>
              <a:rPr b="0" dirty="0">
                <a:solidFill>
                  <a:srgbClr val="F5F9FC"/>
                </a:solidFill>
                <a:latin typeface="Arial"/>
              </a:rPr>
              <a:t> AP</a:t>
            </a:r>
            <a:r>
              <a:rPr lang="en-US" b="0" dirty="0">
                <a:solidFill>
                  <a:srgbClr val="F5F9FC"/>
                </a:solidFill>
                <a:latin typeface="Arial"/>
              </a:rPr>
              <a:t>I</a:t>
            </a:r>
            <a:r>
              <a:rPr b="0" dirty="0">
                <a:solidFill>
                  <a:srgbClr val="F5F9FC"/>
                </a:solidFill>
                <a:latin typeface="Arial"/>
              </a:rPr>
              <a:t> </a:t>
            </a:r>
            <a:r>
              <a:rPr lang="ar-SY" b="0" dirty="0">
                <a:solidFill>
                  <a:srgbClr val="F5F9FC"/>
                </a:solidFill>
                <a:latin typeface="Arial"/>
              </a:rPr>
              <a:t> </a:t>
            </a:r>
            <a:r>
              <a:rPr b="0" dirty="0" err="1">
                <a:solidFill>
                  <a:srgbClr val="F5F9FC"/>
                </a:solidFill>
                <a:latin typeface="Arial"/>
              </a:rPr>
              <a:t>واضح</a:t>
            </a:r>
            <a:r>
              <a:rPr b="0" dirty="0">
                <a:solidFill>
                  <a:srgbClr val="F5F9FC"/>
                </a:solidFill>
                <a:latin typeface="Arial"/>
              </a:rPr>
              <a:t>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68680" y="2743200"/>
            <a:ext cx="10378440" cy="13716"/>
          </a:xfrm>
          <a:prstGeom prst="rect">
            <a:avLst/>
          </a:prstGeom>
          <a:solidFill>
            <a:srgbClr val="28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68680" y="3584448"/>
            <a:ext cx="10378440" cy="13716"/>
          </a:xfrm>
          <a:prstGeom prst="rect">
            <a:avLst/>
          </a:prstGeom>
          <a:solidFill>
            <a:srgbClr val="28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68680" y="4425696"/>
            <a:ext cx="10378440" cy="13716"/>
          </a:xfrm>
          <a:prstGeom prst="rect">
            <a:avLst/>
          </a:prstGeom>
          <a:solidFill>
            <a:srgbClr val="28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68680" y="5266944"/>
            <a:ext cx="10378440" cy="13716"/>
          </a:xfrm>
          <a:prstGeom prst="rect">
            <a:avLst/>
          </a:prstGeom>
          <a:solidFill>
            <a:srgbClr val="28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A6B9CC"/>
                </a:solidFill>
                <a:latin typeface="Arial"/>
              </a:rPr>
              <a:t>NETARCHAI  |  15</a:t>
            </a:r>
          </a:p>
        </p:txBody>
      </p:sp>
      <p:sp>
        <p:nvSpPr>
          <p:cNvPr id="36" name="مربع نص 35">
            <a:extLst>
              <a:ext uri="{FF2B5EF4-FFF2-40B4-BE49-F238E27FC236}">
                <a16:creationId xmlns:a16="http://schemas.microsoft.com/office/drawing/2014/main" id="{C6F9FD66-33AB-F896-A064-739427ECA71B}"/>
              </a:ext>
            </a:extLst>
          </p:cNvPr>
          <p:cNvSpPr txBox="1"/>
          <p:nvPr/>
        </p:nvSpPr>
        <p:spPr>
          <a:xfrm>
            <a:off x="1561795" y="2980158"/>
            <a:ext cx="1744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rtl="1"/>
            <a:r>
              <a:rPr lang="ar-SY" b="1" dirty="0">
                <a:solidFill>
                  <a:schemeClr val="accent6">
                    <a:lumMod val="75000"/>
                  </a:schemeClr>
                </a:solidFill>
              </a:rPr>
              <a:t>معرفة  أنواع الغرف 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7" name="مربع نص 36">
            <a:extLst>
              <a:ext uri="{FF2B5EF4-FFF2-40B4-BE49-F238E27FC236}">
                <a16:creationId xmlns:a16="http://schemas.microsoft.com/office/drawing/2014/main" id="{4070E7B2-4C36-5E91-BE25-1BED0A44EAA4}"/>
              </a:ext>
            </a:extLst>
          </p:cNvPr>
          <p:cNvSpPr txBox="1"/>
          <p:nvPr/>
        </p:nvSpPr>
        <p:spPr>
          <a:xfrm>
            <a:off x="7949982" y="2980158"/>
            <a:ext cx="2977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SY" dirty="0">
                <a:solidFill>
                  <a:schemeClr val="bg1"/>
                </a:solidFill>
              </a:rPr>
              <a:t>تحديد أنواع الغرف من قبل المستخدم 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8" name="مربع نص 37">
            <a:extLst>
              <a:ext uri="{FF2B5EF4-FFF2-40B4-BE49-F238E27FC236}">
                <a16:creationId xmlns:a16="http://schemas.microsoft.com/office/drawing/2014/main" id="{8092C736-9D44-5C04-74EB-C40EAC917A35}"/>
              </a:ext>
            </a:extLst>
          </p:cNvPr>
          <p:cNvSpPr txBox="1"/>
          <p:nvPr/>
        </p:nvSpPr>
        <p:spPr>
          <a:xfrm>
            <a:off x="1333195" y="3833122"/>
            <a:ext cx="2057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b="1" dirty="0">
                <a:solidFill>
                  <a:schemeClr val="accent6">
                    <a:lumMod val="75000"/>
                  </a:schemeClr>
                </a:solidFill>
              </a:rPr>
              <a:t>غياب المنظور الواقعي </a:t>
            </a:r>
            <a:endParaRPr lang="en-US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9" name="مربع نص 38">
            <a:extLst>
              <a:ext uri="{FF2B5EF4-FFF2-40B4-BE49-F238E27FC236}">
                <a16:creationId xmlns:a16="http://schemas.microsoft.com/office/drawing/2014/main" id="{D45AC475-9443-2C0F-74EB-898F28E93464}"/>
              </a:ext>
            </a:extLst>
          </p:cNvPr>
          <p:cNvSpPr txBox="1"/>
          <p:nvPr/>
        </p:nvSpPr>
        <p:spPr>
          <a:xfrm>
            <a:off x="7642555" y="3833122"/>
            <a:ext cx="32950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dirty="0">
                <a:solidFill>
                  <a:schemeClr val="bg1"/>
                </a:solidFill>
              </a:rPr>
              <a:t>رسم مخطط الشبكة على المخطط المعماري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700A84-BB1C-30B6-E312-07B44F7E5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2ACC43E-74CF-33CE-3B83-676C34909B3F}"/>
              </a:ext>
            </a:extLst>
          </p:cNvPr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99871A-4CDF-D7E7-2A51-FDF56B9862CD}"/>
              </a:ext>
            </a:extLst>
          </p:cNvPr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EB1B1F4-2F32-1768-594C-2987E604FFE2}"/>
              </a:ext>
            </a:extLst>
          </p:cNvPr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F01B277-23B8-C66F-F390-74649A7E5023}"/>
              </a:ext>
            </a:extLst>
          </p:cNvPr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583102-55AA-6534-FFCD-69DAD58F461F}"/>
              </a:ext>
            </a:extLst>
          </p:cNvPr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4B137FA-8AF3-A7A8-7872-64A97185915E}"/>
              </a:ext>
            </a:extLst>
          </p:cNvPr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B36DC45-FD8B-1426-46C3-E2055F63B518}"/>
              </a:ext>
            </a:extLst>
          </p:cNvPr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3277C6-9809-9B0A-5732-DE4172B1552E}"/>
              </a:ext>
            </a:extLst>
          </p:cNvPr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43E8F3-A296-4E0E-7D3E-074960BCF66F}"/>
              </a:ext>
            </a:extLst>
          </p:cNvPr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04AB434-28F7-B952-4ABD-F61DCEBFA9F3}"/>
              </a:ext>
            </a:extLst>
          </p:cNvPr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88F7EE0-C431-63C6-0AB4-9C17AAEB92C9}"/>
              </a:ext>
            </a:extLst>
          </p:cNvPr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0C6729-F01E-7F32-616D-4A606A2A738C}"/>
              </a:ext>
            </a:extLst>
          </p:cNvPr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843BFDA-58A0-5426-0967-31EA64A74CF5}"/>
              </a:ext>
            </a:extLst>
          </p:cNvPr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FEB639-1C55-21B1-E557-50EF2F9DC738}"/>
              </a:ext>
            </a:extLst>
          </p:cNvPr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1B146C-E5A1-6947-FD49-49B1A8B64994}"/>
              </a:ext>
            </a:extLst>
          </p:cNvPr>
          <p:cNvSpPr txBox="1"/>
          <p:nvPr/>
        </p:nvSpPr>
        <p:spPr>
          <a:xfrm>
            <a:off x="594360" y="347472"/>
            <a:ext cx="10972800" cy="5078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ar-SY" sz="2700" b="1" dirty="0">
                <a:solidFill>
                  <a:srgbClr val="F5F9FC"/>
                </a:solidFill>
                <a:latin typeface="Arial"/>
              </a:rPr>
              <a:t>الاقتراحات المستقبلية </a:t>
            </a:r>
            <a:endParaRPr sz="2700" b="1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846CE0-C862-A2C6-C44A-9BDB458669BD}"/>
              </a:ext>
            </a:extLst>
          </p:cNvPr>
          <p:cNvSpPr/>
          <p:nvPr/>
        </p:nvSpPr>
        <p:spPr>
          <a:xfrm>
            <a:off x="10927080" y="384048"/>
            <a:ext cx="685800" cy="73152"/>
          </a:xfrm>
          <a:prstGeom prst="rect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ED286E3-B509-16B1-FBF1-A63E68BD3598}"/>
              </a:ext>
            </a:extLst>
          </p:cNvPr>
          <p:cNvSpPr txBox="1"/>
          <p:nvPr/>
        </p:nvSpPr>
        <p:spPr>
          <a:xfrm>
            <a:off x="621792" y="94183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C8F8"/>
                </a:solidFill>
                <a:latin typeface="Arial"/>
              </a:rPr>
              <a:t>09 | نقاط التحسين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8ED55D3-A582-03C6-92D5-E9D7A35B1D12}"/>
              </a:ext>
            </a:extLst>
          </p:cNvPr>
          <p:cNvSpPr txBox="1"/>
          <p:nvPr/>
        </p:nvSpPr>
        <p:spPr>
          <a:xfrm>
            <a:off x="3520440" y="1280160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lang="ar-SY" b="1" dirty="0">
                <a:solidFill>
                  <a:srgbClr val="F5F9FC"/>
                </a:solidFill>
                <a:latin typeface="Arial"/>
              </a:rPr>
              <a:t>تطوير قاعدة البيانات لتحاكي  مبنى من عدة طوابق </a:t>
            </a:r>
            <a:endParaRPr b="1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B4768E8-9074-EAD4-1752-8C296DF2EF2B}"/>
              </a:ext>
            </a:extLst>
          </p:cNvPr>
          <p:cNvSpPr/>
          <p:nvPr/>
        </p:nvSpPr>
        <p:spPr>
          <a:xfrm>
            <a:off x="868680" y="1901952"/>
            <a:ext cx="10378440" cy="13716"/>
          </a:xfrm>
          <a:prstGeom prst="rect">
            <a:avLst/>
          </a:prstGeom>
          <a:solidFill>
            <a:srgbClr val="28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FCCF6D-F29F-D64A-CF96-415BCD78DFC0}"/>
              </a:ext>
            </a:extLst>
          </p:cNvPr>
          <p:cNvSpPr txBox="1"/>
          <p:nvPr/>
        </p:nvSpPr>
        <p:spPr>
          <a:xfrm>
            <a:off x="3520440" y="2121408"/>
            <a:ext cx="749807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lang="ar-SY" b="1" dirty="0">
                <a:solidFill>
                  <a:srgbClr val="F5F9FC"/>
                </a:solidFill>
                <a:latin typeface="Arial"/>
              </a:rPr>
              <a:t>تمكين النظام من التعلم من تعديلات المستخدمين </a:t>
            </a:r>
            <a:endParaRPr b="1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B685B77-3352-B8C8-A314-6CD3D117100F}"/>
              </a:ext>
            </a:extLst>
          </p:cNvPr>
          <p:cNvSpPr/>
          <p:nvPr/>
        </p:nvSpPr>
        <p:spPr>
          <a:xfrm>
            <a:off x="868680" y="2743200"/>
            <a:ext cx="10378440" cy="13716"/>
          </a:xfrm>
          <a:prstGeom prst="rect">
            <a:avLst/>
          </a:prstGeom>
          <a:solidFill>
            <a:srgbClr val="28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5DC06A8-CF0C-98AA-C8FC-D1C50B8D765C}"/>
              </a:ext>
            </a:extLst>
          </p:cNvPr>
          <p:cNvSpPr/>
          <p:nvPr/>
        </p:nvSpPr>
        <p:spPr>
          <a:xfrm>
            <a:off x="868680" y="3584448"/>
            <a:ext cx="10378440" cy="13716"/>
          </a:xfrm>
          <a:prstGeom prst="rect">
            <a:avLst/>
          </a:prstGeom>
          <a:solidFill>
            <a:srgbClr val="28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0C45F16-AB3A-C68D-3B34-6D22E8F2B018}"/>
              </a:ext>
            </a:extLst>
          </p:cNvPr>
          <p:cNvSpPr/>
          <p:nvPr/>
        </p:nvSpPr>
        <p:spPr>
          <a:xfrm>
            <a:off x="868680" y="4425696"/>
            <a:ext cx="10378440" cy="13716"/>
          </a:xfrm>
          <a:prstGeom prst="rect">
            <a:avLst/>
          </a:prstGeom>
          <a:solidFill>
            <a:srgbClr val="28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095CCE6-06D3-DCE8-F28F-C4186F7549F7}"/>
              </a:ext>
            </a:extLst>
          </p:cNvPr>
          <p:cNvSpPr/>
          <p:nvPr/>
        </p:nvSpPr>
        <p:spPr>
          <a:xfrm>
            <a:off x="868680" y="5266944"/>
            <a:ext cx="10378440" cy="13716"/>
          </a:xfrm>
          <a:prstGeom prst="rect">
            <a:avLst/>
          </a:prstGeom>
          <a:solidFill>
            <a:srgbClr val="2846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BB8C4CD-29D6-43F7-3D24-998C37584FFA}"/>
              </a:ext>
            </a:extLst>
          </p:cNvPr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A6B9CC"/>
                </a:solidFill>
                <a:latin typeface="Arial"/>
              </a:rPr>
              <a:t>NETARCHAI  |  15</a:t>
            </a:r>
          </a:p>
        </p:txBody>
      </p:sp>
      <p:sp>
        <p:nvSpPr>
          <p:cNvPr id="25" name="مربع نص 24">
            <a:extLst>
              <a:ext uri="{FF2B5EF4-FFF2-40B4-BE49-F238E27FC236}">
                <a16:creationId xmlns:a16="http://schemas.microsoft.com/office/drawing/2014/main" id="{7DB97D09-ADB2-3055-813D-00AA8E5F995B}"/>
              </a:ext>
            </a:extLst>
          </p:cNvPr>
          <p:cNvSpPr txBox="1"/>
          <p:nvPr/>
        </p:nvSpPr>
        <p:spPr>
          <a:xfrm>
            <a:off x="3619196" y="3032236"/>
            <a:ext cx="736517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b="1" dirty="0">
                <a:solidFill>
                  <a:schemeClr val="bg1"/>
                </a:solidFill>
              </a:rPr>
              <a:t>قياس طول </a:t>
            </a:r>
            <a:r>
              <a:rPr lang="ar-SY" b="1" dirty="0" err="1">
                <a:solidFill>
                  <a:schemeClr val="bg1"/>
                </a:solidFill>
              </a:rPr>
              <a:t>الكبلات</a:t>
            </a:r>
            <a:r>
              <a:rPr lang="ar-SY" b="1" dirty="0">
                <a:solidFill>
                  <a:schemeClr val="bg1"/>
                </a:solidFill>
              </a:rPr>
              <a:t> وتمديدها ب الاعتماد على جدران وسماكتها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5" name="مربع نص 34">
            <a:extLst>
              <a:ext uri="{FF2B5EF4-FFF2-40B4-BE49-F238E27FC236}">
                <a16:creationId xmlns:a16="http://schemas.microsoft.com/office/drawing/2014/main" id="{CF37618E-4BBF-A5CB-7277-8631B1F02234}"/>
              </a:ext>
            </a:extLst>
          </p:cNvPr>
          <p:cNvSpPr txBox="1"/>
          <p:nvPr/>
        </p:nvSpPr>
        <p:spPr>
          <a:xfrm>
            <a:off x="6400801" y="3794760"/>
            <a:ext cx="4617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b="1" dirty="0">
                <a:solidFill>
                  <a:schemeClr val="bg1"/>
                </a:solidFill>
              </a:rPr>
              <a:t>إضافة بوابة دفع الكترونية 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6" name="مربع نص 35">
            <a:extLst>
              <a:ext uri="{FF2B5EF4-FFF2-40B4-BE49-F238E27FC236}">
                <a16:creationId xmlns:a16="http://schemas.microsoft.com/office/drawing/2014/main" id="{2086A26B-13F7-9F4B-F64F-0D3D95BF8A1B}"/>
              </a:ext>
            </a:extLst>
          </p:cNvPr>
          <p:cNvSpPr txBox="1"/>
          <p:nvPr/>
        </p:nvSpPr>
        <p:spPr>
          <a:xfrm>
            <a:off x="6361701" y="4608915"/>
            <a:ext cx="4656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1"/>
            <a:r>
              <a:rPr lang="ar-SY" b="1" dirty="0">
                <a:solidFill>
                  <a:schemeClr val="bg1"/>
                </a:solidFill>
              </a:rPr>
              <a:t>تحسين </a:t>
            </a:r>
            <a:r>
              <a:rPr lang="ar-SY" b="1" dirty="0" err="1">
                <a:solidFill>
                  <a:schemeClr val="bg1"/>
                </a:solidFill>
              </a:rPr>
              <a:t>المودل</a:t>
            </a:r>
            <a:r>
              <a:rPr lang="ar-SY" b="1" dirty="0">
                <a:solidFill>
                  <a:schemeClr val="bg1"/>
                </a:solidFill>
              </a:rPr>
              <a:t> لاكتشاف أنواع الغرف تلقائيا 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18066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700" b="1">
                <a:solidFill>
                  <a:srgbClr val="F5F9FC"/>
                </a:solidFill>
                <a:latin typeface="Arial"/>
              </a:rPr>
              <a:t>ملخص سريع عن المشروع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27080" y="384048"/>
            <a:ext cx="685800" cy="73152"/>
          </a:xfrm>
          <a:prstGeom prst="rect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94183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C8F8"/>
                </a:solidFill>
                <a:latin typeface="Arial"/>
              </a:rPr>
              <a:t>10 | في دقيقة واحدة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1417320"/>
            <a:ext cx="10332720" cy="86177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lang="en-US" sz="2500" b="1" dirty="0">
                <a:solidFill>
                  <a:srgbClr val="F5F9FC"/>
                </a:solidFill>
                <a:latin typeface="Arial"/>
              </a:rPr>
              <a:t>:</a:t>
            </a:r>
            <a:r>
              <a:rPr sz="2500" b="1" dirty="0" err="1">
                <a:solidFill>
                  <a:srgbClr val="F5F9FC"/>
                </a:solidFill>
                <a:latin typeface="Arial"/>
              </a:rPr>
              <a:t>NetArchAI</a:t>
            </a:r>
            <a:r>
              <a:rPr sz="25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5F9FC"/>
                </a:solidFill>
                <a:latin typeface="Arial"/>
              </a:rPr>
              <a:t>هو</a:t>
            </a:r>
            <a:r>
              <a:rPr sz="25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5F9FC"/>
                </a:solidFill>
                <a:latin typeface="Arial"/>
              </a:rPr>
              <a:t>نظام</a:t>
            </a:r>
            <a:r>
              <a:rPr sz="25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5F9FC"/>
                </a:solidFill>
                <a:latin typeface="Arial"/>
              </a:rPr>
              <a:t>يساعد</a:t>
            </a:r>
            <a:r>
              <a:rPr sz="25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5F9FC"/>
                </a:solidFill>
                <a:latin typeface="Arial"/>
              </a:rPr>
              <a:t>مصمم</a:t>
            </a:r>
            <a:r>
              <a:rPr sz="25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5F9FC"/>
                </a:solidFill>
                <a:latin typeface="Arial"/>
              </a:rPr>
              <a:t>الشبكات</a:t>
            </a:r>
            <a:r>
              <a:rPr sz="25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5F9FC"/>
                </a:solidFill>
                <a:latin typeface="Arial"/>
              </a:rPr>
              <a:t>على</a:t>
            </a:r>
            <a:r>
              <a:rPr sz="25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5F9FC"/>
                </a:solidFill>
                <a:latin typeface="Arial"/>
              </a:rPr>
              <a:t>تحويل</a:t>
            </a:r>
            <a:r>
              <a:rPr sz="2500" b="1" dirty="0">
                <a:solidFill>
                  <a:srgbClr val="F5F9FC"/>
                </a:solidFill>
                <a:latin typeface="Arial"/>
              </a:rPr>
              <a:t> </a:t>
            </a:r>
            <a:endParaRPr lang="en-US" sz="2500" b="1" dirty="0">
              <a:solidFill>
                <a:srgbClr val="F5F9FC"/>
              </a:solidFill>
              <a:latin typeface="Arial"/>
            </a:endParaRPr>
          </a:p>
          <a:p>
            <a:pPr algn="ctr" rtl="1"/>
            <a:r>
              <a:rPr sz="2500" b="1" dirty="0" err="1">
                <a:solidFill>
                  <a:srgbClr val="F5F9FC"/>
                </a:solidFill>
                <a:latin typeface="Arial"/>
              </a:rPr>
              <a:t>المخطط</a:t>
            </a:r>
            <a:r>
              <a:rPr sz="25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5F9FC"/>
                </a:solidFill>
                <a:latin typeface="Arial"/>
              </a:rPr>
              <a:t>المعماري</a:t>
            </a:r>
            <a:r>
              <a:rPr sz="25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5F9FC"/>
                </a:solidFill>
                <a:latin typeface="Arial"/>
              </a:rPr>
              <a:t>إلى</a:t>
            </a:r>
            <a:r>
              <a:rPr sz="25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5F9FC"/>
                </a:solidFill>
                <a:latin typeface="Arial"/>
              </a:rPr>
              <a:t>شبكة</a:t>
            </a:r>
            <a:r>
              <a:rPr sz="25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5F9FC"/>
                </a:solidFill>
                <a:latin typeface="Arial"/>
              </a:rPr>
              <a:t>سلكية</a:t>
            </a:r>
            <a:r>
              <a:rPr sz="2500" b="1" dirty="0">
                <a:solidFill>
                  <a:srgbClr val="F5F9FC"/>
                </a:solidFill>
                <a:latin typeface="Arial"/>
              </a:rPr>
              <a:t> </a:t>
            </a:r>
            <a:r>
              <a:rPr sz="2500" b="1" dirty="0" err="1">
                <a:solidFill>
                  <a:srgbClr val="F5F9FC"/>
                </a:solidFill>
                <a:latin typeface="Arial"/>
              </a:rPr>
              <a:t>منظمة</a:t>
            </a:r>
            <a:r>
              <a:rPr sz="2500" b="1" dirty="0">
                <a:solidFill>
                  <a:srgbClr val="F5F9FC"/>
                </a:solidFill>
                <a:latin typeface="Arial"/>
              </a:rPr>
              <a:t>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8680" y="2743200"/>
            <a:ext cx="3246120" cy="146304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00C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51560" y="3017520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00C8F8"/>
                </a:solidFill>
                <a:latin typeface="Arial"/>
              </a:rPr>
              <a:t>يدخل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3520440"/>
            <a:ext cx="2788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F5F9FC"/>
                </a:solidFill>
                <a:latin typeface="Arial"/>
              </a:rPr>
              <a:t>مخطط معماري + بيانات المشروع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17720" y="2743200"/>
            <a:ext cx="3246120" cy="146304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800600" y="3017520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FF6B35"/>
                </a:solidFill>
                <a:latin typeface="Arial"/>
              </a:rPr>
              <a:t>يعالج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520440"/>
            <a:ext cx="2788920" cy="5539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500" b="0" dirty="0">
                <a:solidFill>
                  <a:srgbClr val="F5F9FC"/>
                </a:solidFill>
                <a:latin typeface="Arial"/>
              </a:rPr>
              <a:t>AI </a:t>
            </a:r>
            <a:r>
              <a:rPr sz="1500" b="0" dirty="0" err="1">
                <a:solidFill>
                  <a:srgbClr val="F5F9FC"/>
                </a:solidFill>
                <a:latin typeface="Arial"/>
              </a:rPr>
              <a:t>لاكتشاف</a:t>
            </a:r>
            <a:r>
              <a:rPr sz="15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F5F9FC"/>
                </a:solidFill>
                <a:latin typeface="Arial"/>
              </a:rPr>
              <a:t>الغرف</a:t>
            </a:r>
            <a:r>
              <a:rPr sz="15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F5F9FC"/>
                </a:solidFill>
                <a:latin typeface="Arial"/>
              </a:rPr>
              <a:t>وOptimization</a:t>
            </a:r>
            <a:r>
              <a:rPr sz="15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F5F9FC"/>
                </a:solidFill>
                <a:latin typeface="Arial"/>
              </a:rPr>
              <a:t>لتوزيع</a:t>
            </a:r>
            <a:r>
              <a:rPr sz="15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1500" b="0" dirty="0" err="1">
                <a:solidFill>
                  <a:srgbClr val="F5F9FC"/>
                </a:solidFill>
                <a:latin typeface="Arial"/>
              </a:rPr>
              <a:t>الشبكة</a:t>
            </a:r>
            <a:endParaRPr sz="1500" b="0" dirty="0">
              <a:solidFill>
                <a:srgbClr val="F5F9FC"/>
              </a:solidFill>
              <a:latin typeface="Arial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366759" y="2743200"/>
            <a:ext cx="3246120" cy="1463040"/>
          </a:xfrm>
          <a:prstGeom prst="roundRect">
            <a:avLst/>
          </a:prstGeom>
          <a:solidFill>
            <a:srgbClr val="0E1F3A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549639" y="3017520"/>
            <a:ext cx="2880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>
                <a:solidFill>
                  <a:srgbClr val="10B981"/>
                </a:solidFill>
                <a:latin typeface="Arial"/>
              </a:rPr>
              <a:t>ينتج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59" y="3520440"/>
            <a:ext cx="278892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1500" b="0" dirty="0" err="1">
                <a:solidFill>
                  <a:srgbClr val="F5F9FC"/>
                </a:solidFill>
                <a:latin typeface="Arial"/>
              </a:rPr>
              <a:t>أجهزة</a:t>
            </a:r>
            <a:r>
              <a:rPr sz="1500" b="0" dirty="0">
                <a:solidFill>
                  <a:srgbClr val="F5F9FC"/>
                </a:solidFill>
                <a:latin typeface="Arial"/>
              </a:rPr>
              <a:t>،، </a:t>
            </a:r>
            <a:r>
              <a:rPr sz="1500" b="0" dirty="0" err="1">
                <a:solidFill>
                  <a:srgbClr val="F5F9FC"/>
                </a:solidFill>
                <a:latin typeface="Arial"/>
              </a:rPr>
              <a:t>روابط</a:t>
            </a:r>
            <a:r>
              <a:rPr sz="1500" b="0" dirty="0">
                <a:solidFill>
                  <a:srgbClr val="F5F9FC"/>
                </a:solidFill>
                <a:latin typeface="Arial"/>
              </a:rPr>
              <a:t>، </a:t>
            </a:r>
            <a:r>
              <a:rPr sz="1500" b="0" dirty="0" err="1">
                <a:solidFill>
                  <a:srgbClr val="F5F9FC"/>
                </a:solidFill>
                <a:latin typeface="Arial"/>
              </a:rPr>
              <a:t>وتقرير</a:t>
            </a:r>
            <a:r>
              <a:rPr sz="1500" b="0" dirty="0">
                <a:solidFill>
                  <a:srgbClr val="F5F9FC"/>
                </a:solidFill>
                <a:latin typeface="Arial"/>
              </a:rPr>
              <a:t> PDF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166360"/>
            <a:ext cx="1014984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 rtl="1"/>
            <a:r>
              <a:rPr sz="2000" b="1" dirty="0" err="1">
                <a:solidFill>
                  <a:srgbClr val="10B981"/>
                </a:solidFill>
                <a:latin typeface="Arial"/>
              </a:rPr>
              <a:t>النتيجة</a:t>
            </a:r>
            <a:r>
              <a:rPr sz="2000" b="1" dirty="0">
                <a:solidFill>
                  <a:srgbClr val="10B981"/>
                </a:solidFill>
                <a:latin typeface="Arial"/>
              </a:rPr>
              <a:t>: </a:t>
            </a:r>
            <a:r>
              <a:rPr sz="2000" b="1" dirty="0" err="1">
                <a:solidFill>
                  <a:srgbClr val="10B981"/>
                </a:solidFill>
                <a:latin typeface="Arial"/>
              </a:rPr>
              <a:t>قرار</a:t>
            </a:r>
            <a:r>
              <a:rPr sz="2000" b="1" dirty="0">
                <a:solidFill>
                  <a:srgbClr val="10B981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B981"/>
                </a:solidFill>
                <a:latin typeface="Arial"/>
              </a:rPr>
              <a:t>أسرع</a:t>
            </a:r>
            <a:r>
              <a:rPr sz="2000" b="1" dirty="0">
                <a:solidFill>
                  <a:srgbClr val="10B981"/>
                </a:solidFill>
                <a:latin typeface="Arial"/>
              </a:rPr>
              <a:t>، </a:t>
            </a:r>
            <a:r>
              <a:rPr sz="2000" b="1" dirty="0" err="1">
                <a:solidFill>
                  <a:srgbClr val="10B981"/>
                </a:solidFill>
                <a:latin typeface="Arial"/>
              </a:rPr>
              <a:t>بيانات</a:t>
            </a:r>
            <a:r>
              <a:rPr sz="2000" b="1" dirty="0">
                <a:solidFill>
                  <a:srgbClr val="10B981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B981"/>
                </a:solidFill>
                <a:latin typeface="Arial"/>
              </a:rPr>
              <a:t>أوضح</a:t>
            </a:r>
            <a:r>
              <a:rPr sz="2000" b="1" dirty="0">
                <a:solidFill>
                  <a:srgbClr val="10B981"/>
                </a:solidFill>
                <a:latin typeface="Arial"/>
              </a:rPr>
              <a:t>، </a:t>
            </a:r>
            <a:r>
              <a:rPr sz="2000" b="1" dirty="0" err="1">
                <a:solidFill>
                  <a:srgbClr val="10B981"/>
                </a:solidFill>
                <a:latin typeface="Arial"/>
              </a:rPr>
              <a:t>وتصميم</a:t>
            </a:r>
            <a:r>
              <a:rPr sz="2000" b="1" dirty="0">
                <a:solidFill>
                  <a:srgbClr val="10B981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B981"/>
                </a:solidFill>
                <a:latin typeface="Arial"/>
              </a:rPr>
              <a:t>يمكن</a:t>
            </a:r>
            <a:r>
              <a:rPr sz="2000" b="1" dirty="0">
                <a:solidFill>
                  <a:srgbClr val="10B981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B981"/>
                </a:solidFill>
                <a:latin typeface="Arial"/>
              </a:rPr>
              <a:t>مراجعته</a:t>
            </a:r>
            <a:r>
              <a:rPr sz="2000" b="1" dirty="0">
                <a:solidFill>
                  <a:srgbClr val="10B981"/>
                </a:solidFill>
                <a:latin typeface="Arial"/>
              </a:rPr>
              <a:t> </a:t>
            </a:r>
            <a:r>
              <a:rPr sz="2000" b="1" dirty="0" err="1">
                <a:solidFill>
                  <a:srgbClr val="10B981"/>
                </a:solidFill>
                <a:latin typeface="Arial"/>
              </a:rPr>
              <a:t>وتعديله</a:t>
            </a:r>
            <a:r>
              <a:rPr sz="2000" b="1" dirty="0">
                <a:solidFill>
                  <a:srgbClr val="10B981"/>
                </a:solidFill>
                <a:latin typeface="Arial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A6B9CC"/>
                </a:solidFill>
                <a:latin typeface="Arial"/>
              </a:rPr>
              <a:t>NETARCHAI  |  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828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315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82296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440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00584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09728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1887200" y="0"/>
            <a:ext cx="7315" cy="6858000"/>
          </a:xfrm>
          <a:prstGeom prst="rect">
            <a:avLst/>
          </a:prstGeom>
          <a:solidFill>
            <a:srgbClr val="0C1D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94360" y="347472"/>
            <a:ext cx="1097280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700" b="1">
                <a:solidFill>
                  <a:srgbClr val="F5F9FC"/>
                </a:solidFill>
                <a:latin typeface="Arial"/>
              </a:rPr>
              <a:t>الخلاصة التقنية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27080" y="384048"/>
            <a:ext cx="685800" cy="73152"/>
          </a:xfrm>
          <a:prstGeom prst="rect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" y="941832"/>
            <a:ext cx="106984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1">
                <a:solidFill>
                  <a:srgbClr val="00C8F8"/>
                </a:solidFill>
                <a:latin typeface="Arial"/>
              </a:rPr>
              <a:t>10 | لماذا التصميم قابل للتوسع؟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1591056"/>
            <a:ext cx="91440" cy="91440"/>
          </a:xfrm>
          <a:prstGeom prst="ellipse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115568" y="1508760"/>
            <a:ext cx="10131552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100" b="0" dirty="0" err="1">
                <a:solidFill>
                  <a:srgbClr val="F5F9FC"/>
                </a:solidFill>
                <a:latin typeface="Arial"/>
              </a:rPr>
              <a:t>فصل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الواجهة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عن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API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وعن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خدمات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الذكاء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الاصطناعي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.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2414015"/>
            <a:ext cx="91440" cy="91440"/>
          </a:xfrm>
          <a:prstGeom prst="ellipse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15568" y="2331720"/>
            <a:ext cx="1013155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100" b="0">
                <a:solidFill>
                  <a:srgbClr val="F5F9FC"/>
                </a:solidFill>
                <a:latin typeface="Arial"/>
              </a:rPr>
              <a:t>قاعدة بيانات تحفظ الكيانات الأساسية والعلاقات التشغيلية.</a:t>
            </a:r>
          </a:p>
        </p:txBody>
      </p:sp>
      <p:sp>
        <p:nvSpPr>
          <p:cNvPr id="23" name="Oval 22"/>
          <p:cNvSpPr/>
          <p:nvPr/>
        </p:nvSpPr>
        <p:spPr>
          <a:xfrm>
            <a:off x="914400" y="3236976"/>
            <a:ext cx="91440" cy="91440"/>
          </a:xfrm>
          <a:prstGeom prst="ellipse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115568" y="3154680"/>
            <a:ext cx="10131552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2100" b="0">
                <a:solidFill>
                  <a:srgbClr val="F5F9FC"/>
                </a:solidFill>
                <a:latin typeface="Arial"/>
              </a:rPr>
              <a:t>خدمة التحسين قابلة لتغيير القيود وقواعد توزيع الأجهزة.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4059935"/>
            <a:ext cx="91440" cy="91440"/>
          </a:xfrm>
          <a:prstGeom prst="ellipse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115568" y="3977639"/>
            <a:ext cx="10131552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100" b="0" dirty="0" err="1">
                <a:solidFill>
                  <a:srgbClr val="F5F9FC"/>
                </a:solidFill>
                <a:latin typeface="Arial"/>
              </a:rPr>
              <a:t>واجهة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Canvas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تسمح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بالمراجعة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البشرية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بعد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الاقتراح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الآلي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.</a:t>
            </a:r>
          </a:p>
        </p:txBody>
      </p:sp>
      <p:sp>
        <p:nvSpPr>
          <p:cNvPr id="27" name="Oval 26"/>
          <p:cNvSpPr/>
          <p:nvPr/>
        </p:nvSpPr>
        <p:spPr>
          <a:xfrm>
            <a:off x="914400" y="4882896"/>
            <a:ext cx="91440" cy="91440"/>
          </a:xfrm>
          <a:prstGeom prst="ellipse">
            <a:avLst/>
          </a:prstGeom>
          <a:solidFill>
            <a:srgbClr val="00C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115568" y="4800600"/>
            <a:ext cx="10131552" cy="41549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 rtl="1"/>
            <a:r>
              <a:rPr sz="2100" b="0" dirty="0" err="1">
                <a:solidFill>
                  <a:srgbClr val="F5F9FC"/>
                </a:solidFill>
                <a:latin typeface="Arial"/>
              </a:rPr>
              <a:t>البنية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الحالية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تفتح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الطريق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لإضافة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تقارير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،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أنواع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شبكات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،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ومصادر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 AI </a:t>
            </a:r>
            <a:r>
              <a:rPr sz="2100" b="0" dirty="0" err="1">
                <a:solidFill>
                  <a:srgbClr val="F5F9FC"/>
                </a:solidFill>
                <a:latin typeface="Arial"/>
              </a:rPr>
              <a:t>جديدة</a:t>
            </a:r>
            <a:r>
              <a:rPr sz="2100" b="0" dirty="0">
                <a:solidFill>
                  <a:srgbClr val="F5F9FC"/>
                </a:solidFill>
                <a:latin typeface="Arial"/>
              </a:rPr>
              <a:t>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A6B9CC"/>
                </a:solidFill>
                <a:latin typeface="Arial"/>
              </a:rPr>
              <a:t>NETARCHAI  |  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2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4200" b="1">
                <a:solidFill>
                  <a:srgbClr val="00C8F8"/>
                </a:solidFill>
                <a:latin typeface="Arial"/>
              </a:rPr>
              <a:t>شكرًا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880360"/>
            <a:ext cx="10332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F5F9FC"/>
                </a:solidFill>
                <a:latin typeface="Arial"/>
              </a:rPr>
              <a:t>NetArchAI | Intelligent wired network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0">
                <a:solidFill>
                  <a:srgbClr val="A6B9CC"/>
                </a:solidFill>
                <a:latin typeface="Arial"/>
              </a:rPr>
              <a:t>Laravel  •  React  •  Python AI  •  Network Optimization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>
                <a:solidFill>
                  <a:srgbClr val="A6B9CC"/>
                </a:solidFill>
                <a:latin typeface="Arial"/>
              </a:rPr>
              <a:t>NETARCHAI  | 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571</TotalTime>
  <Words>1015</Words>
  <Application>Microsoft Office PowerPoint</Application>
  <PresentationFormat>شاشة عريضة</PresentationFormat>
  <Paragraphs>242</Paragraphs>
  <Slides>20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2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ahmadalihussen68@gmail.com</cp:lastModifiedBy>
  <cp:revision>25</cp:revision>
  <dcterms:created xsi:type="dcterms:W3CDTF">2013-01-27T09:14:16Z</dcterms:created>
  <dcterms:modified xsi:type="dcterms:W3CDTF">2026-09-01T06:35:58Z</dcterms:modified>
  <cp:category/>
</cp:coreProperties>
</file>